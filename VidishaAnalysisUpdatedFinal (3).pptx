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5" r:id="rId6"/>
    <p:sldId id="271" r:id="rId7"/>
    <p:sldId id="267" r:id="rId8"/>
    <p:sldId id="298" r:id="rId9"/>
    <p:sldId id="313" r:id="rId10"/>
    <p:sldId id="299" r:id="rId11"/>
    <p:sldId id="305" r:id="rId12"/>
    <p:sldId id="306" r:id="rId13"/>
    <p:sldId id="308" r:id="rId14"/>
    <p:sldId id="300" r:id="rId15"/>
    <p:sldId id="309" r:id="rId16"/>
    <p:sldId id="307" r:id="rId17"/>
    <p:sldId id="301" r:id="rId18"/>
    <p:sldId id="302" r:id="rId19"/>
    <p:sldId id="310" r:id="rId20"/>
    <p:sldId id="303" r:id="rId21"/>
    <p:sldId id="311" r:id="rId22"/>
    <p:sldId id="304" r:id="rId23"/>
    <p:sldId id="312" r:id="rId24"/>
    <p:sldId id="268" r:id="rId25"/>
    <p:sldId id="269" r:id="rId26"/>
    <p:sldId id="280" r:id="rId27"/>
    <p:sldId id="282" r:id="rId28"/>
    <p:sldId id="283" r:id="rId29"/>
    <p:sldId id="284" r:id="rId30"/>
    <p:sldId id="285" r:id="rId31"/>
    <p:sldId id="286" r:id="rId32"/>
    <p:sldId id="276" r:id="rId33"/>
    <p:sldId id="314" r:id="rId34"/>
    <p:sldId id="315" r:id="rId35"/>
    <p:sldId id="27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2BD84F-E0DF-4E47-8851-C804E36027D6}" v="2259" dt="2026-04-22T16:12:13.4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vert="horz" lIns="91440" tIns="45720" rIns="91440" bIns="45720" rtlCol="0" anchor="ctr">
            <a:normAutofit/>
          </a:bodyPr>
          <a:lstStyle/>
          <a:p>
            <a:r>
              <a:rPr lang="en-US" sz="3200">
                <a:ea typeface="+mj-lt"/>
                <a:cs typeface="+mj-lt"/>
              </a:rPr>
              <a:t>Impact Analysis Report – Learning Outcomes (Baseline vs Midline)</a:t>
            </a:r>
            <a:endParaRPr lang="en-US" sz="3200"/>
          </a:p>
        </p:txBody>
      </p:sp>
      <p:sp>
        <p:nvSpPr>
          <p:cNvPr id="3" name="Subtitle 2"/>
          <p:cNvSpPr>
            <a:spLocks noGrp="1"/>
          </p:cNvSpPr>
          <p:nvPr>
            <p:ph type="subTitle" idx="1"/>
          </p:nvPr>
        </p:nvSpPr>
        <p:spPr>
          <a:xfrm>
            <a:off x="1419616" y="2965298"/>
            <a:ext cx="9144000" cy="1655762"/>
          </a:xfrm>
        </p:spPr>
        <p:txBody>
          <a:bodyPr vert="horz" lIns="91440" tIns="45720" rIns="91440" bIns="45720" rtlCol="0" anchor="ctr">
            <a:normAutofit/>
          </a:bodyPr>
          <a:lstStyle/>
          <a:p>
            <a:r>
              <a:rPr lang="en-US">
                <a:ea typeface="+mn-lt"/>
                <a:cs typeface="+mn-lt"/>
              </a:rPr>
              <a:t>Assessment of Student Performance  | 2026</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7D28-4656-006E-443E-7B4A89CF4792}"/>
              </a:ext>
            </a:extLst>
          </p:cNvPr>
          <p:cNvSpPr>
            <a:spLocks noGrp="1"/>
          </p:cNvSpPr>
          <p:nvPr>
            <p:ph type="title"/>
          </p:nvPr>
        </p:nvSpPr>
        <p:spPr/>
        <p:txBody>
          <a:bodyPr/>
          <a:lstStyle/>
          <a:p>
            <a:pPr algn="ctr"/>
            <a:r>
              <a:rPr lang="en-US">
                <a:ea typeface="+mj-lt"/>
                <a:cs typeface="+mj-lt"/>
              </a:rPr>
              <a:t>Executive Summary</a:t>
            </a:r>
            <a:endParaRPr lang="en-US"/>
          </a:p>
        </p:txBody>
      </p:sp>
      <p:sp>
        <p:nvSpPr>
          <p:cNvPr id="5" name="TextBox 4">
            <a:extLst>
              <a:ext uri="{FF2B5EF4-FFF2-40B4-BE49-F238E27FC236}">
                <a16:creationId xmlns:a16="http://schemas.microsoft.com/office/drawing/2014/main" id="{F6907DCE-4F2C-8A3A-0966-EC9134A914A8}"/>
              </a:ext>
            </a:extLst>
          </p:cNvPr>
          <p:cNvSpPr txBox="1"/>
          <p:nvPr/>
        </p:nvSpPr>
        <p:spPr>
          <a:xfrm>
            <a:off x="581589" y="1712100"/>
            <a:ext cx="11031253"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ea typeface="+mn-lt"/>
                <a:cs typeface="+mn-lt"/>
              </a:rPr>
              <a:t>The Treatment group showed stronger learning gains (</a:t>
            </a:r>
            <a:r>
              <a:rPr lang="en-US" sz="2400" b="1">
                <a:ea typeface="+mn-lt"/>
                <a:cs typeface="+mn-lt"/>
              </a:rPr>
              <a:t>+27.1%</a:t>
            </a:r>
            <a:r>
              <a:rPr lang="en-US" sz="2400">
                <a:ea typeface="+mn-lt"/>
                <a:cs typeface="+mn-lt"/>
              </a:rPr>
              <a:t>) compared to Control (</a:t>
            </a:r>
            <a:r>
              <a:rPr lang="en-US" sz="2400" b="1">
                <a:ea typeface="+mn-lt"/>
                <a:cs typeface="+mn-lt"/>
              </a:rPr>
              <a:t>+14.1%</a:t>
            </a:r>
            <a:r>
              <a:rPr lang="en-US" sz="2400">
                <a:ea typeface="+mn-lt"/>
                <a:cs typeface="+mn-lt"/>
              </a:rPr>
              <a:t>), despite starting from a lower baseline. </a:t>
            </a:r>
            <a:endParaRPr lang="en-US" sz="2400"/>
          </a:p>
          <a:p>
            <a:pPr marL="342900" indent="-342900">
              <a:buFont typeface="Arial"/>
              <a:buChar char="•"/>
            </a:pPr>
            <a:r>
              <a:rPr lang="en-US" sz="2400">
                <a:ea typeface="+mn-lt"/>
                <a:cs typeface="+mn-lt"/>
              </a:rPr>
              <a:t>The intervention generated an additional impact of </a:t>
            </a:r>
            <a:r>
              <a:rPr lang="en-US" sz="2400" b="1">
                <a:ea typeface="+mn-lt"/>
                <a:cs typeface="+mn-lt"/>
              </a:rPr>
              <a:t>+13.1 percentage points</a:t>
            </a:r>
            <a:r>
              <a:rPr lang="en-US" sz="2400">
                <a:ea typeface="+mn-lt"/>
                <a:cs typeface="+mn-lt"/>
              </a:rPr>
              <a:t> beyond the progress observed in the Control group. </a:t>
            </a:r>
            <a:endParaRPr lang="en-US" sz="2400"/>
          </a:p>
          <a:p>
            <a:pPr marL="342900" indent="-342900">
              <a:buFont typeface="Arial"/>
              <a:buChar char="•"/>
            </a:pPr>
            <a:r>
              <a:rPr lang="en-US" sz="2400">
                <a:ea typeface="+mn-lt"/>
                <a:cs typeface="+mn-lt"/>
              </a:rPr>
              <a:t>Subject-wise analysis shows the strongest additional gain in </a:t>
            </a:r>
            <a:r>
              <a:rPr lang="en-US" sz="2400" b="1">
                <a:ea typeface="+mn-lt"/>
                <a:cs typeface="+mn-lt"/>
              </a:rPr>
              <a:t>Numeracy</a:t>
            </a:r>
            <a:r>
              <a:rPr lang="en-US" sz="2400">
                <a:ea typeface="+mn-lt"/>
                <a:cs typeface="+mn-lt"/>
              </a:rPr>
              <a:t>, with meaningful improvement also visible in Reading and Writing. </a:t>
            </a:r>
            <a:endParaRPr lang="en-US" sz="2400"/>
          </a:p>
          <a:p>
            <a:pPr marL="342900" indent="-342900">
              <a:buFont typeface="Arial"/>
              <a:buChar char="•"/>
            </a:pPr>
            <a:r>
              <a:rPr lang="en-US" sz="2400">
                <a:ea typeface="+mn-lt"/>
                <a:cs typeface="+mn-lt"/>
              </a:rPr>
              <a:t>Grade-wise and school-wise comparisons indicate that improvement is visible across multiple levels of the system. </a:t>
            </a:r>
            <a:endParaRPr lang="en-US" sz="2400"/>
          </a:p>
          <a:p>
            <a:pPr marL="342900" indent="-342900">
              <a:buFont typeface="Arial"/>
              <a:buChar char="•"/>
            </a:pPr>
            <a:r>
              <a:rPr lang="en-US" sz="2400">
                <a:ea typeface="+mn-lt"/>
                <a:cs typeface="+mn-lt"/>
              </a:rPr>
              <a:t>The </a:t>
            </a:r>
            <a:r>
              <a:rPr lang="en-US" sz="2400" b="1">
                <a:ea typeface="+mn-lt"/>
                <a:cs typeface="+mn-lt"/>
              </a:rPr>
              <a:t>intervention </a:t>
            </a:r>
            <a:r>
              <a:rPr lang="en-US" sz="2400">
                <a:ea typeface="+mn-lt"/>
                <a:cs typeface="+mn-lt"/>
              </a:rPr>
              <a:t>had the strongest impact among lower-performing students, showing clear value for foundational learning improvement.</a:t>
            </a:r>
            <a:endParaRPr lang="en-US" sz="2400"/>
          </a:p>
          <a:p>
            <a:pPr marL="342900" indent="-342900">
              <a:buFont typeface="Arial"/>
              <a:buChar char="•"/>
            </a:pPr>
            <a:endParaRPr lang="en-US" sz="2400"/>
          </a:p>
        </p:txBody>
      </p:sp>
    </p:spTree>
    <p:extLst>
      <p:ext uri="{BB962C8B-B14F-4D97-AF65-F5344CB8AC3E}">
        <p14:creationId xmlns:p14="http://schemas.microsoft.com/office/powerpoint/2010/main" val="1242837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F2D5F-F382-FA57-EC64-D4520A2AD11F}"/>
              </a:ext>
            </a:extLst>
          </p:cNvPr>
          <p:cNvSpPr>
            <a:spLocks noGrp="1"/>
          </p:cNvSpPr>
          <p:nvPr>
            <p:ph type="title"/>
          </p:nvPr>
        </p:nvSpPr>
        <p:spPr/>
        <p:txBody>
          <a:bodyPr/>
          <a:lstStyle/>
          <a:p>
            <a:pPr algn="ctr"/>
            <a:r>
              <a:rPr lang="en-US">
                <a:ea typeface="+mj-lt"/>
                <a:cs typeface="+mj-lt"/>
              </a:rPr>
              <a:t>Objective of the Analysis</a:t>
            </a:r>
            <a:endParaRPr lang="en-US"/>
          </a:p>
        </p:txBody>
      </p:sp>
      <p:sp>
        <p:nvSpPr>
          <p:cNvPr id="4" name="TextBox 3">
            <a:extLst>
              <a:ext uri="{FF2B5EF4-FFF2-40B4-BE49-F238E27FC236}">
                <a16:creationId xmlns:a16="http://schemas.microsoft.com/office/drawing/2014/main" id="{3F8EF725-6B74-144F-F9AE-D8F1AA63B5B3}"/>
              </a:ext>
            </a:extLst>
          </p:cNvPr>
          <p:cNvSpPr txBox="1"/>
          <p:nvPr/>
        </p:nvSpPr>
        <p:spPr>
          <a:xfrm>
            <a:off x="327505" y="1991620"/>
            <a:ext cx="11542732"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ea typeface="+mn-lt"/>
                <a:cs typeface="+mn-lt"/>
              </a:rPr>
              <a:t>Evaluate change in student learning outcomes between Baseline and Midline </a:t>
            </a:r>
            <a:endParaRPr lang="en-US" sz="2800"/>
          </a:p>
          <a:p>
            <a:pPr marL="285750" indent="-285750">
              <a:buFont typeface="Arial"/>
              <a:buChar char="•"/>
            </a:pPr>
            <a:r>
              <a:rPr lang="en-US" sz="2800">
                <a:ea typeface="+mn-lt"/>
                <a:cs typeface="+mn-lt"/>
              </a:rPr>
              <a:t>Compare performance across </a:t>
            </a:r>
            <a:r>
              <a:rPr lang="en-US" sz="2800" b="1">
                <a:ea typeface="+mn-lt"/>
                <a:cs typeface="+mn-lt"/>
              </a:rPr>
              <a:t>Reading, Writing, and Numeracy</a:t>
            </a:r>
            <a:r>
              <a:rPr lang="en-US" sz="2800">
                <a:ea typeface="+mn-lt"/>
                <a:cs typeface="+mn-lt"/>
              </a:rPr>
              <a:t> </a:t>
            </a:r>
            <a:endParaRPr lang="en-US" sz="2800"/>
          </a:p>
          <a:p>
            <a:pPr marL="285750" indent="-285750">
              <a:buFont typeface="Arial"/>
              <a:buChar char="•"/>
            </a:pPr>
            <a:r>
              <a:rPr lang="en-US" sz="2800">
                <a:ea typeface="+mn-lt"/>
                <a:cs typeface="+mn-lt"/>
              </a:rPr>
              <a:t>Assess impact of intervention (</a:t>
            </a:r>
            <a:r>
              <a:rPr lang="en-US" sz="2800" b="1">
                <a:ea typeface="+mn-lt"/>
                <a:cs typeface="+mn-lt"/>
              </a:rPr>
              <a:t>Treatment vs Control groups</a:t>
            </a:r>
            <a:r>
              <a:rPr lang="en-US" sz="2800">
                <a:ea typeface="+mn-lt"/>
                <a:cs typeface="+mn-lt"/>
              </a:rPr>
              <a:t>) </a:t>
            </a:r>
            <a:endParaRPr lang="en-US" sz="2800"/>
          </a:p>
          <a:p>
            <a:pPr marL="285750" indent="-285750">
              <a:buFont typeface="Arial"/>
              <a:buChar char="•"/>
            </a:pPr>
            <a:r>
              <a:rPr lang="en-US" sz="2800">
                <a:ea typeface="+mn-lt"/>
                <a:cs typeface="+mn-lt"/>
              </a:rPr>
              <a:t>Identify which segment of students benefited the most </a:t>
            </a:r>
            <a:endParaRPr lang="en-US" sz="2800"/>
          </a:p>
          <a:p>
            <a:pPr marL="285750" indent="-285750">
              <a:buFont typeface="Arial"/>
              <a:buChar char="•"/>
            </a:pPr>
            <a:r>
              <a:rPr lang="en-US" sz="2800">
                <a:ea typeface="+mn-lt"/>
                <a:cs typeface="+mn-lt"/>
              </a:rPr>
              <a:t>Provide actionable insights for program improvement</a:t>
            </a:r>
            <a:endParaRPr lang="en-US" sz="2800"/>
          </a:p>
          <a:p>
            <a:pPr algn="l"/>
            <a:endParaRPr lang="en-US" sz="2800"/>
          </a:p>
        </p:txBody>
      </p:sp>
    </p:spTree>
    <p:extLst>
      <p:ext uri="{BB962C8B-B14F-4D97-AF65-F5344CB8AC3E}">
        <p14:creationId xmlns:p14="http://schemas.microsoft.com/office/powerpoint/2010/main" val="1818692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356C-C70B-F632-8BF2-7301FEA36FC5}"/>
              </a:ext>
            </a:extLst>
          </p:cNvPr>
          <p:cNvSpPr>
            <a:spLocks noGrp="1"/>
          </p:cNvSpPr>
          <p:nvPr>
            <p:ph type="title"/>
          </p:nvPr>
        </p:nvSpPr>
        <p:spPr>
          <a:xfrm>
            <a:off x="838200" y="365125"/>
            <a:ext cx="10515600" cy="960221"/>
          </a:xfrm>
        </p:spPr>
        <p:txBody>
          <a:bodyPr/>
          <a:lstStyle/>
          <a:p>
            <a:pPr algn="ctr"/>
            <a:r>
              <a:rPr lang="en-US">
                <a:ea typeface="+mj-lt"/>
                <a:cs typeface="+mj-lt"/>
              </a:rPr>
              <a:t>Dataset Overview</a:t>
            </a:r>
            <a:endParaRPr lang="en-US"/>
          </a:p>
        </p:txBody>
      </p:sp>
      <p:sp>
        <p:nvSpPr>
          <p:cNvPr id="4" name="TextBox 3">
            <a:extLst>
              <a:ext uri="{FF2B5EF4-FFF2-40B4-BE49-F238E27FC236}">
                <a16:creationId xmlns:a16="http://schemas.microsoft.com/office/drawing/2014/main" id="{6EE37133-3320-BF78-258A-B73FB6200776}"/>
              </a:ext>
            </a:extLst>
          </p:cNvPr>
          <p:cNvSpPr txBox="1"/>
          <p:nvPr/>
        </p:nvSpPr>
        <p:spPr>
          <a:xfrm>
            <a:off x="226686" y="1895162"/>
            <a:ext cx="6761963" cy="2585323"/>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285750" indent="-285750">
              <a:buFont typeface="Arial"/>
              <a:buChar char="•"/>
            </a:pPr>
            <a:r>
              <a:rPr lang="en-US">
                <a:ea typeface="+mn-lt"/>
                <a:cs typeface="+mn-lt"/>
              </a:rPr>
              <a:t>Total Students (Baseline): </a:t>
            </a:r>
            <a:r>
              <a:rPr lang="en-US" b="1">
                <a:ea typeface="+mn-lt"/>
                <a:cs typeface="+mn-lt"/>
              </a:rPr>
              <a:t>375</a:t>
            </a:r>
            <a:r>
              <a:rPr lang="en-US">
                <a:ea typeface="+mn-lt"/>
                <a:cs typeface="+mn-lt"/>
              </a:rPr>
              <a:t> </a:t>
            </a:r>
            <a:endParaRPr lang="en-US"/>
          </a:p>
          <a:p>
            <a:pPr marL="285750" indent="-285750">
              <a:buFont typeface="Arial"/>
              <a:buChar char="•"/>
            </a:pPr>
            <a:r>
              <a:rPr lang="en-US">
                <a:ea typeface="+mn-lt"/>
                <a:cs typeface="+mn-lt"/>
              </a:rPr>
              <a:t>Total Students (Midline): </a:t>
            </a:r>
            <a:r>
              <a:rPr lang="en-US" b="1">
                <a:ea typeface="+mn-lt"/>
                <a:cs typeface="+mn-lt"/>
              </a:rPr>
              <a:t>300</a:t>
            </a:r>
            <a:endParaRPr lang="en-US">
              <a:ea typeface="+mn-lt"/>
              <a:cs typeface="+mn-lt"/>
            </a:endParaRPr>
          </a:p>
          <a:p>
            <a:pPr marL="285750" indent="-285750">
              <a:buFont typeface="Arial"/>
              <a:buChar char="•"/>
            </a:pPr>
            <a:r>
              <a:rPr lang="en-US">
                <a:ea typeface="+mn-lt"/>
                <a:cs typeface="+mn-lt"/>
              </a:rPr>
              <a:t>Control (Baseline): </a:t>
            </a:r>
            <a:r>
              <a:rPr lang="en-US" b="1">
                <a:ea typeface="+mn-lt"/>
                <a:cs typeface="+mn-lt"/>
              </a:rPr>
              <a:t>n = </a:t>
            </a:r>
            <a:r>
              <a:rPr lang="en-US" b="1">
                <a:solidFill>
                  <a:srgbClr val="000000"/>
                </a:solidFill>
                <a:latin typeface="Aptos"/>
                <a:ea typeface="+mn-lt"/>
                <a:cs typeface="+mn-lt"/>
              </a:rPr>
              <a:t>228</a:t>
            </a:r>
            <a:endParaRPr lang="en-US" b="1">
              <a:solidFill>
                <a:srgbClr val="000000"/>
              </a:solidFill>
              <a:latin typeface="Aptos"/>
            </a:endParaRPr>
          </a:p>
          <a:p>
            <a:pPr marL="285750" indent="-285750">
              <a:buFont typeface="Arial"/>
              <a:buChar char="•"/>
            </a:pPr>
            <a:r>
              <a:rPr lang="en-US">
                <a:ea typeface="+mn-lt"/>
                <a:cs typeface="+mn-lt"/>
              </a:rPr>
              <a:t>Treatment (Baseline): </a:t>
            </a:r>
            <a:r>
              <a:rPr lang="en-US" b="1">
                <a:ea typeface="+mn-lt"/>
                <a:cs typeface="+mn-lt"/>
              </a:rPr>
              <a:t>n = </a:t>
            </a:r>
            <a:r>
              <a:rPr lang="en-US" b="1">
                <a:solidFill>
                  <a:srgbClr val="000000"/>
                </a:solidFill>
                <a:latin typeface="Aptos"/>
                <a:ea typeface="+mn-lt"/>
                <a:cs typeface="+mn-lt"/>
              </a:rPr>
              <a:t>147</a:t>
            </a:r>
            <a:endParaRPr lang="en-US" b="1">
              <a:solidFill>
                <a:srgbClr val="000000"/>
              </a:solidFill>
              <a:latin typeface="Aptos"/>
            </a:endParaRPr>
          </a:p>
          <a:p>
            <a:pPr marL="285750" indent="-285750">
              <a:buFont typeface="Arial"/>
              <a:buChar char="•"/>
            </a:pPr>
            <a:r>
              <a:rPr lang="en-US">
                <a:ea typeface="+mn-lt"/>
                <a:cs typeface="+mn-lt"/>
              </a:rPr>
              <a:t>Control (Midline): </a:t>
            </a:r>
            <a:r>
              <a:rPr lang="en-US" b="1">
                <a:ea typeface="+mn-lt"/>
                <a:cs typeface="+mn-lt"/>
              </a:rPr>
              <a:t>n = </a:t>
            </a:r>
            <a:r>
              <a:rPr lang="en-US" b="1">
                <a:solidFill>
                  <a:srgbClr val="000000"/>
                </a:solidFill>
                <a:latin typeface="Aptos"/>
                <a:ea typeface="+mn-lt"/>
                <a:cs typeface="+mn-lt"/>
              </a:rPr>
              <a:t>169</a:t>
            </a:r>
            <a:r>
              <a:rPr lang="en-US">
                <a:ea typeface="+mn-lt"/>
                <a:cs typeface="+mn-lt"/>
              </a:rPr>
              <a:t> </a:t>
            </a:r>
            <a:endParaRPr lang="en-US"/>
          </a:p>
          <a:p>
            <a:pPr marL="285750" indent="-285750">
              <a:buFont typeface="Arial"/>
              <a:buChar char="•"/>
            </a:pPr>
            <a:r>
              <a:rPr lang="en-US">
                <a:ea typeface="+mn-lt"/>
                <a:cs typeface="+mn-lt"/>
              </a:rPr>
              <a:t>Treatment (Midline): </a:t>
            </a:r>
            <a:r>
              <a:rPr lang="en-US" b="1">
                <a:ea typeface="+mn-lt"/>
                <a:cs typeface="+mn-lt"/>
              </a:rPr>
              <a:t>n = </a:t>
            </a:r>
            <a:r>
              <a:rPr lang="en-US" b="1">
                <a:latin typeface="Aptos"/>
                <a:ea typeface="+mn-lt"/>
                <a:cs typeface="+mn-lt"/>
              </a:rPr>
              <a:t>131</a:t>
            </a:r>
            <a:endParaRPr lang="en-US" b="1">
              <a:latin typeface="Aptos"/>
            </a:endParaRPr>
          </a:p>
          <a:p>
            <a:pPr marL="285750" indent="-285750">
              <a:buFont typeface="Arial"/>
              <a:buChar char="•"/>
            </a:pPr>
            <a:r>
              <a:rPr lang="en-US">
                <a:ea typeface="+mn-lt"/>
                <a:cs typeface="+mn-lt"/>
              </a:rPr>
              <a:t>Schools Covered: </a:t>
            </a:r>
            <a:r>
              <a:rPr lang="en-US" b="1">
                <a:ea typeface="+mn-lt"/>
                <a:cs typeface="+mn-lt"/>
              </a:rPr>
              <a:t>8</a:t>
            </a:r>
            <a:endParaRPr lang="en-US">
              <a:ea typeface="+mn-lt"/>
              <a:cs typeface="+mn-lt"/>
            </a:endParaRPr>
          </a:p>
          <a:p>
            <a:pPr marL="285750" indent="-285750">
              <a:buFont typeface="Arial"/>
              <a:buChar char="•"/>
            </a:pPr>
            <a:r>
              <a:rPr lang="en-US">
                <a:ea typeface="+mn-lt"/>
                <a:cs typeface="+mn-lt"/>
              </a:rPr>
              <a:t>Grades Included: </a:t>
            </a:r>
            <a:r>
              <a:rPr lang="en-US" b="1">
                <a:ea typeface="+mn-lt"/>
                <a:cs typeface="+mn-lt"/>
              </a:rPr>
              <a:t>Grades 2–5</a:t>
            </a:r>
            <a:r>
              <a:rPr lang="en-US">
                <a:ea typeface="+mn-lt"/>
                <a:cs typeface="+mn-lt"/>
              </a:rPr>
              <a:t> for grade-wise comparison slides, since your new charts are explicitly filtered to Grades 2–5.</a:t>
            </a:r>
            <a:endParaRPr lang="en-US"/>
          </a:p>
        </p:txBody>
      </p:sp>
      <p:sp>
        <p:nvSpPr>
          <p:cNvPr id="3" name="TextBox 2">
            <a:extLst>
              <a:ext uri="{FF2B5EF4-FFF2-40B4-BE49-F238E27FC236}">
                <a16:creationId xmlns:a16="http://schemas.microsoft.com/office/drawing/2014/main" id="{EE8E7DF4-C599-D0FF-3886-2823FB65D7EB}"/>
              </a:ext>
            </a:extLst>
          </p:cNvPr>
          <p:cNvSpPr txBox="1"/>
          <p:nvPr/>
        </p:nvSpPr>
        <p:spPr>
          <a:xfrm>
            <a:off x="390854" y="4776352"/>
            <a:ext cx="983084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b="1">
                <a:ea typeface="+mn-lt"/>
                <a:cs typeface="+mn-lt"/>
              </a:rPr>
              <a:t> The analysis covers 8 schools across Control and Treatment groups, with separate baseline and midline cohorts. Grade-wise and school-wise comparisons are presented for Grades 2–5 to ensure cleaner and more reliable group-level interpretation.</a:t>
            </a:r>
            <a:endParaRPr lang="en-US"/>
          </a:p>
        </p:txBody>
      </p:sp>
    </p:spTree>
    <p:extLst>
      <p:ext uri="{BB962C8B-B14F-4D97-AF65-F5344CB8AC3E}">
        <p14:creationId xmlns:p14="http://schemas.microsoft.com/office/powerpoint/2010/main" val="864228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C2238-DB94-623D-C495-F2F6C41272B5}"/>
              </a:ext>
            </a:extLst>
          </p:cNvPr>
          <p:cNvSpPr>
            <a:spLocks noGrp="1"/>
          </p:cNvSpPr>
          <p:nvPr>
            <p:ph type="title"/>
          </p:nvPr>
        </p:nvSpPr>
        <p:spPr>
          <a:xfrm>
            <a:off x="702501" y="-217"/>
            <a:ext cx="10515600" cy="1325563"/>
          </a:xfrm>
        </p:spPr>
        <p:txBody>
          <a:bodyPr/>
          <a:lstStyle/>
          <a:p>
            <a:pPr algn="ctr"/>
            <a:r>
              <a:rPr lang="en-US">
                <a:ea typeface="+mj-lt"/>
                <a:cs typeface="+mj-lt"/>
              </a:rPr>
              <a:t>Starting Point: Baseline Comparison</a:t>
            </a:r>
            <a:endParaRPr lang="en-US"/>
          </a:p>
        </p:txBody>
      </p:sp>
      <p:sp>
        <p:nvSpPr>
          <p:cNvPr id="4" name="TextBox 3">
            <a:extLst>
              <a:ext uri="{FF2B5EF4-FFF2-40B4-BE49-F238E27FC236}">
                <a16:creationId xmlns:a16="http://schemas.microsoft.com/office/drawing/2014/main" id="{8F987FF1-0CE9-F3D8-299A-6FDE56D4C20B}"/>
              </a:ext>
            </a:extLst>
          </p:cNvPr>
          <p:cNvSpPr txBox="1"/>
          <p:nvPr/>
        </p:nvSpPr>
        <p:spPr>
          <a:xfrm>
            <a:off x="424764" y="2561169"/>
            <a:ext cx="351563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Control: </a:t>
            </a:r>
            <a:r>
              <a:rPr lang="en-US" b="1">
                <a:ea typeface="+mn-lt"/>
                <a:cs typeface="+mn-lt"/>
              </a:rPr>
              <a:t>42.3%</a:t>
            </a:r>
            <a:endParaRPr lang="en-US" b="1"/>
          </a:p>
          <a:p>
            <a:pPr marL="285750" indent="-285750">
              <a:buFont typeface="Arial"/>
              <a:buChar char="•"/>
            </a:pPr>
            <a:r>
              <a:rPr lang="en-US">
                <a:ea typeface="+mn-lt"/>
                <a:cs typeface="+mn-lt"/>
              </a:rPr>
              <a:t>Treatment: </a:t>
            </a:r>
            <a:r>
              <a:rPr lang="en-US" b="1">
                <a:ea typeface="+mn-lt"/>
                <a:cs typeface="+mn-lt"/>
              </a:rPr>
              <a:t>34.7%</a:t>
            </a:r>
            <a:endParaRPr lang="en-US" b="1"/>
          </a:p>
        </p:txBody>
      </p:sp>
      <p:sp>
        <p:nvSpPr>
          <p:cNvPr id="12" name="TextBox 11">
            <a:extLst>
              <a:ext uri="{FF2B5EF4-FFF2-40B4-BE49-F238E27FC236}">
                <a16:creationId xmlns:a16="http://schemas.microsoft.com/office/drawing/2014/main" id="{A1FB76A9-5D96-2C56-80F5-810F7DE3A5E7}"/>
              </a:ext>
            </a:extLst>
          </p:cNvPr>
          <p:cNvSpPr txBox="1"/>
          <p:nvPr/>
        </p:nvSpPr>
        <p:spPr>
          <a:xfrm>
            <a:off x="288639" y="4088765"/>
            <a:ext cx="622960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p>
          <a:p>
            <a:endParaRPr lang="en-US" b="1">
              <a:ea typeface="+mn-lt"/>
              <a:cs typeface="+mn-lt"/>
            </a:endParaRPr>
          </a:p>
          <a:p>
            <a:r>
              <a:rPr lang="en-US">
                <a:ea typeface="+mn-lt"/>
                <a:cs typeface="+mn-lt"/>
              </a:rPr>
              <a:t>At baseline, the Treatment group started </a:t>
            </a:r>
            <a:r>
              <a:rPr lang="en-US" b="1">
                <a:ea typeface="+mn-lt"/>
                <a:cs typeface="+mn-lt"/>
              </a:rPr>
              <a:t>7.6 percentage points below</a:t>
            </a:r>
            <a:r>
              <a:rPr lang="en-US">
                <a:ea typeface="+mn-lt"/>
                <a:cs typeface="+mn-lt"/>
              </a:rPr>
              <a:t> the Control group, indicating a weaker initial learning position before the intervention. This provides an important starting reference for assessing later improvement. </a:t>
            </a:r>
            <a:endParaRPr lang="en-US"/>
          </a:p>
        </p:txBody>
      </p:sp>
      <p:pic>
        <p:nvPicPr>
          <p:cNvPr id="6" name="Content Placeholder 5" descr="A graph of a patient&amp;#39;s comparison&#10;&#10;AI-generated content may be incorrect.">
            <a:extLst>
              <a:ext uri="{FF2B5EF4-FFF2-40B4-BE49-F238E27FC236}">
                <a16:creationId xmlns:a16="http://schemas.microsoft.com/office/drawing/2014/main" id="{48645632-5476-5BF2-6194-24C0FECA3E4E}"/>
              </a:ext>
            </a:extLst>
          </p:cNvPr>
          <p:cNvPicPr>
            <a:picLocks noGrp="1" noChangeAspect="1"/>
          </p:cNvPicPr>
          <p:nvPr>
            <p:ph idx="1"/>
          </p:nvPr>
        </p:nvPicPr>
        <p:blipFill>
          <a:blip r:embed="rId2"/>
          <a:stretch>
            <a:fillRect/>
          </a:stretch>
        </p:blipFill>
        <p:spPr>
          <a:xfrm>
            <a:off x="6861784" y="1714054"/>
            <a:ext cx="5326432" cy="4417903"/>
          </a:xfrm>
          <a:prstGeom prst="rect">
            <a:avLst/>
          </a:prstGeom>
        </p:spPr>
      </p:pic>
    </p:spTree>
    <p:extLst>
      <p:ext uri="{BB962C8B-B14F-4D97-AF65-F5344CB8AC3E}">
        <p14:creationId xmlns:p14="http://schemas.microsoft.com/office/powerpoint/2010/main" val="2677606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7568B-0D48-6470-C4DA-3A17754CE0A9}"/>
              </a:ext>
            </a:extLst>
          </p:cNvPr>
          <p:cNvSpPr>
            <a:spLocks noGrp="1"/>
          </p:cNvSpPr>
          <p:nvPr>
            <p:ph type="title"/>
          </p:nvPr>
        </p:nvSpPr>
        <p:spPr/>
        <p:txBody>
          <a:bodyPr/>
          <a:lstStyle/>
          <a:p>
            <a:pPr algn="ctr"/>
            <a:r>
              <a:rPr lang="en-US">
                <a:ea typeface="+mj-lt"/>
                <a:cs typeface="+mj-lt"/>
              </a:rPr>
              <a:t>End Point: Midline Comparison</a:t>
            </a:r>
            <a:endParaRPr lang="en-US"/>
          </a:p>
        </p:txBody>
      </p:sp>
      <p:sp>
        <p:nvSpPr>
          <p:cNvPr id="5" name="TextBox 4">
            <a:extLst>
              <a:ext uri="{FF2B5EF4-FFF2-40B4-BE49-F238E27FC236}">
                <a16:creationId xmlns:a16="http://schemas.microsoft.com/office/drawing/2014/main" id="{2D35CDDE-ABA4-E4F5-E981-AB7A72CE204E}"/>
              </a:ext>
            </a:extLst>
          </p:cNvPr>
          <p:cNvSpPr txBox="1"/>
          <p:nvPr/>
        </p:nvSpPr>
        <p:spPr>
          <a:xfrm>
            <a:off x="175069" y="2350102"/>
            <a:ext cx="39436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Control: </a:t>
            </a:r>
            <a:r>
              <a:rPr lang="en-US" b="1">
                <a:ea typeface="+mn-lt"/>
                <a:cs typeface="+mn-lt"/>
              </a:rPr>
              <a:t>56.4% </a:t>
            </a:r>
            <a:endParaRPr lang="en-US" b="1"/>
          </a:p>
          <a:p>
            <a:pPr marL="285750" indent="-285750">
              <a:buFont typeface="Arial"/>
              <a:buChar char="•"/>
            </a:pPr>
            <a:r>
              <a:rPr lang="en-US">
                <a:ea typeface="+mn-lt"/>
                <a:cs typeface="+mn-lt"/>
              </a:rPr>
              <a:t>Treatment: </a:t>
            </a:r>
            <a:r>
              <a:rPr lang="en-US" b="1">
                <a:ea typeface="+mn-lt"/>
                <a:cs typeface="+mn-lt"/>
              </a:rPr>
              <a:t>61.9% </a:t>
            </a:r>
            <a:endParaRPr lang="en-US" b="1"/>
          </a:p>
          <a:p>
            <a:pPr algn="l"/>
            <a:endParaRPr lang="en-US"/>
          </a:p>
        </p:txBody>
      </p:sp>
      <p:sp>
        <p:nvSpPr>
          <p:cNvPr id="6" name="TextBox 5">
            <a:extLst>
              <a:ext uri="{FF2B5EF4-FFF2-40B4-BE49-F238E27FC236}">
                <a16:creationId xmlns:a16="http://schemas.microsoft.com/office/drawing/2014/main" id="{32EC39C4-F2E4-AC0D-5FBE-D5D00E9EE488}"/>
              </a:ext>
            </a:extLst>
          </p:cNvPr>
          <p:cNvSpPr txBox="1"/>
          <p:nvPr/>
        </p:nvSpPr>
        <p:spPr>
          <a:xfrm>
            <a:off x="175379" y="3608504"/>
            <a:ext cx="619829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b="1"/>
          </a:p>
          <a:p>
            <a:endParaRPr lang="en-US" b="1">
              <a:ea typeface="+mn-lt"/>
              <a:cs typeface="+mn-lt"/>
            </a:endParaRPr>
          </a:p>
          <a:p>
            <a:r>
              <a:rPr lang="en-US">
                <a:ea typeface="+mn-lt"/>
                <a:cs typeface="+mn-lt"/>
              </a:rPr>
              <a:t>By midline, the Treatment group had moved </a:t>
            </a:r>
            <a:r>
              <a:rPr lang="en-US" b="1">
                <a:ea typeface="+mn-lt"/>
                <a:cs typeface="+mn-lt"/>
              </a:rPr>
              <a:t>5.5 percentage points ahead</a:t>
            </a:r>
            <a:r>
              <a:rPr lang="en-US">
                <a:ea typeface="+mn-lt"/>
                <a:cs typeface="+mn-lt"/>
              </a:rPr>
              <a:t> of the Control group. This reversal from a weaker starting position to stronger endline performance suggests meaningful learning progress under the intervention. </a:t>
            </a:r>
            <a:endParaRPr lang="en-US"/>
          </a:p>
        </p:txBody>
      </p:sp>
      <p:pic>
        <p:nvPicPr>
          <p:cNvPr id="8" name="Content Placeholder 7" descr="A graph of a comparison between treatment and control&#10;&#10;AI-generated content may be incorrect.">
            <a:extLst>
              <a:ext uri="{FF2B5EF4-FFF2-40B4-BE49-F238E27FC236}">
                <a16:creationId xmlns:a16="http://schemas.microsoft.com/office/drawing/2014/main" id="{F31693E1-2EA5-A915-8789-C7F8B0160C89}"/>
              </a:ext>
            </a:extLst>
          </p:cNvPr>
          <p:cNvPicPr>
            <a:picLocks noGrp="1" noChangeAspect="1"/>
          </p:cNvPicPr>
          <p:nvPr>
            <p:ph idx="1"/>
          </p:nvPr>
        </p:nvPicPr>
        <p:blipFill>
          <a:blip r:embed="rId2"/>
          <a:stretch>
            <a:fillRect/>
          </a:stretch>
        </p:blipFill>
        <p:spPr>
          <a:xfrm>
            <a:off x="6722236" y="1692265"/>
            <a:ext cx="5469829" cy="4513674"/>
          </a:xfrm>
          <a:prstGeom prst="rect">
            <a:avLst/>
          </a:prstGeom>
        </p:spPr>
      </p:pic>
    </p:spTree>
    <p:extLst>
      <p:ext uri="{BB962C8B-B14F-4D97-AF65-F5344CB8AC3E}">
        <p14:creationId xmlns:p14="http://schemas.microsoft.com/office/powerpoint/2010/main" val="1233111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554C8-7D90-679A-A652-C53C3D9A2EAE}"/>
              </a:ext>
            </a:extLst>
          </p:cNvPr>
          <p:cNvSpPr>
            <a:spLocks noGrp="1"/>
          </p:cNvSpPr>
          <p:nvPr>
            <p:ph type="title"/>
          </p:nvPr>
        </p:nvSpPr>
        <p:spPr/>
        <p:txBody>
          <a:bodyPr/>
          <a:lstStyle/>
          <a:p>
            <a:pPr algn="ctr"/>
            <a:r>
              <a:rPr lang="en-US">
                <a:ea typeface="+mj-lt"/>
                <a:cs typeface="+mj-lt"/>
              </a:rPr>
              <a:t>Learning Gains: Treatment vs Control</a:t>
            </a:r>
            <a:endParaRPr lang="en-US"/>
          </a:p>
        </p:txBody>
      </p:sp>
      <p:sp>
        <p:nvSpPr>
          <p:cNvPr id="4" name="TextBox 3">
            <a:extLst>
              <a:ext uri="{FF2B5EF4-FFF2-40B4-BE49-F238E27FC236}">
                <a16:creationId xmlns:a16="http://schemas.microsoft.com/office/drawing/2014/main" id="{31CAA023-6E9D-8735-4FD7-3BA558F46451}"/>
              </a:ext>
            </a:extLst>
          </p:cNvPr>
          <p:cNvSpPr txBox="1"/>
          <p:nvPr/>
        </p:nvSpPr>
        <p:spPr>
          <a:xfrm>
            <a:off x="262310" y="2510795"/>
            <a:ext cx="558243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Control improvement: </a:t>
            </a:r>
            <a:r>
              <a:rPr lang="en-US" b="1">
                <a:ea typeface="+mn-lt"/>
                <a:cs typeface="+mn-lt"/>
              </a:rPr>
              <a:t>+14.1% </a:t>
            </a:r>
            <a:endParaRPr lang="en-US" b="1"/>
          </a:p>
          <a:p>
            <a:pPr marL="285750" indent="-285750">
              <a:buFont typeface="Arial"/>
              <a:buChar char="•"/>
            </a:pPr>
            <a:r>
              <a:rPr lang="en-US">
                <a:ea typeface="+mn-lt"/>
                <a:cs typeface="+mn-lt"/>
              </a:rPr>
              <a:t>Treatment improvement: </a:t>
            </a:r>
            <a:r>
              <a:rPr lang="en-US" b="1">
                <a:ea typeface="+mn-lt"/>
                <a:cs typeface="+mn-lt"/>
              </a:rPr>
              <a:t>+27.1% </a:t>
            </a:r>
            <a:endParaRPr lang="en-US"/>
          </a:p>
          <a:p>
            <a:pPr algn="l"/>
            <a:endParaRPr lang="en-US"/>
          </a:p>
        </p:txBody>
      </p:sp>
      <p:sp>
        <p:nvSpPr>
          <p:cNvPr id="5" name="TextBox 4">
            <a:extLst>
              <a:ext uri="{FF2B5EF4-FFF2-40B4-BE49-F238E27FC236}">
                <a16:creationId xmlns:a16="http://schemas.microsoft.com/office/drawing/2014/main" id="{CFB44924-1485-B20E-557D-082960F3304D}"/>
              </a:ext>
            </a:extLst>
          </p:cNvPr>
          <p:cNvSpPr txBox="1"/>
          <p:nvPr/>
        </p:nvSpPr>
        <p:spPr>
          <a:xfrm>
            <a:off x="365199" y="3831118"/>
            <a:ext cx="626092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 :</a:t>
            </a:r>
            <a:endParaRPr lang="en-US"/>
          </a:p>
          <a:p>
            <a:endParaRPr lang="en-US" b="1">
              <a:ea typeface="+mn-lt"/>
              <a:cs typeface="+mn-lt"/>
            </a:endParaRPr>
          </a:p>
          <a:p>
            <a:pPr marL="285750" indent="-285750">
              <a:buFont typeface="Arial"/>
              <a:buChar char="•"/>
            </a:pPr>
            <a:r>
              <a:rPr lang="en-US">
                <a:ea typeface="+mn-lt"/>
                <a:cs typeface="+mn-lt"/>
              </a:rPr>
              <a:t>The Treatment group achieved </a:t>
            </a:r>
            <a:r>
              <a:rPr lang="en-US" b="1">
                <a:ea typeface="+mn-lt"/>
                <a:cs typeface="+mn-lt"/>
              </a:rPr>
              <a:t>nearly double the improvement</a:t>
            </a:r>
            <a:r>
              <a:rPr lang="en-US">
                <a:ea typeface="+mn-lt"/>
                <a:cs typeface="+mn-lt"/>
              </a:rPr>
              <a:t> compared to the Control group.</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This indicates that the intervention had a </a:t>
            </a:r>
            <a:r>
              <a:rPr lang="en-US" b="1">
                <a:ea typeface="+mn-lt"/>
                <a:cs typeface="+mn-lt"/>
              </a:rPr>
              <a:t>clear and measurable impact on accelerating student learning outcomes</a:t>
            </a:r>
            <a:r>
              <a:rPr lang="en-US">
                <a:ea typeface="+mn-lt"/>
                <a:cs typeface="+mn-lt"/>
              </a:rPr>
              <a:t>.</a:t>
            </a:r>
          </a:p>
          <a:p>
            <a:endParaRPr lang="en-US">
              <a:ea typeface="+mn-lt"/>
              <a:cs typeface="+mn-lt"/>
            </a:endParaRPr>
          </a:p>
          <a:p>
            <a:pPr algn="l"/>
            <a:endParaRPr lang="en-US"/>
          </a:p>
        </p:txBody>
      </p:sp>
      <p:pic>
        <p:nvPicPr>
          <p:cNvPr id="7" name="Content Placeholder 6">
            <a:extLst>
              <a:ext uri="{FF2B5EF4-FFF2-40B4-BE49-F238E27FC236}">
                <a16:creationId xmlns:a16="http://schemas.microsoft.com/office/drawing/2014/main" id="{F644ED6E-8626-5BF5-404C-742845CB5F01}"/>
              </a:ext>
            </a:extLst>
          </p:cNvPr>
          <p:cNvPicPr>
            <a:picLocks noGrp="1" noChangeAspect="1"/>
          </p:cNvPicPr>
          <p:nvPr>
            <p:ph idx="1"/>
          </p:nvPr>
        </p:nvPicPr>
        <p:blipFill>
          <a:blip r:embed="rId2"/>
          <a:stretch>
            <a:fillRect/>
          </a:stretch>
        </p:blipFill>
        <p:spPr>
          <a:xfrm>
            <a:off x="6826816" y="1496675"/>
            <a:ext cx="5365054" cy="4654332"/>
          </a:xfrm>
          <a:prstGeom prst="rect">
            <a:avLst/>
          </a:prstGeom>
        </p:spPr>
      </p:pic>
    </p:spTree>
    <p:extLst>
      <p:ext uri="{BB962C8B-B14F-4D97-AF65-F5344CB8AC3E}">
        <p14:creationId xmlns:p14="http://schemas.microsoft.com/office/powerpoint/2010/main" val="2245259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574C-6CFC-B4F7-E8DC-C5E80F1B2649}"/>
              </a:ext>
            </a:extLst>
          </p:cNvPr>
          <p:cNvSpPr>
            <a:spLocks noGrp="1"/>
          </p:cNvSpPr>
          <p:nvPr>
            <p:ph type="title"/>
          </p:nvPr>
        </p:nvSpPr>
        <p:spPr/>
        <p:txBody>
          <a:bodyPr>
            <a:normAutofit/>
          </a:bodyPr>
          <a:lstStyle/>
          <a:p>
            <a:pPr algn="ctr"/>
            <a:r>
              <a:rPr lang="en-US" sz="3600">
                <a:ea typeface="+mj-lt"/>
                <a:cs typeface="+mj-lt"/>
              </a:rPr>
              <a:t>Impact of Intervention (Difference-in-Differences)</a:t>
            </a:r>
            <a:endParaRPr lang="en-US" sz="3600"/>
          </a:p>
        </p:txBody>
      </p:sp>
      <p:sp>
        <p:nvSpPr>
          <p:cNvPr id="4" name="TextBox 3">
            <a:extLst>
              <a:ext uri="{FF2B5EF4-FFF2-40B4-BE49-F238E27FC236}">
                <a16:creationId xmlns:a16="http://schemas.microsoft.com/office/drawing/2014/main" id="{1A924EBF-A95C-7913-13C3-05873B634BF2}"/>
              </a:ext>
            </a:extLst>
          </p:cNvPr>
          <p:cNvSpPr txBox="1"/>
          <p:nvPr/>
        </p:nvSpPr>
        <p:spPr>
          <a:xfrm>
            <a:off x="380476" y="1865466"/>
            <a:ext cx="412106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Control Improvement:</a:t>
            </a:r>
            <a:r>
              <a:rPr lang="en-US">
                <a:ea typeface="+mn-lt"/>
                <a:cs typeface="+mn-lt"/>
              </a:rPr>
              <a:t> </a:t>
            </a:r>
            <a:r>
              <a:rPr lang="en-US" b="1">
                <a:ea typeface="+mn-lt"/>
                <a:cs typeface="+mn-lt"/>
              </a:rPr>
              <a:t>+14.1%</a:t>
            </a:r>
            <a:endParaRPr lang="en-US" b="1"/>
          </a:p>
          <a:p>
            <a:r>
              <a:rPr lang="en-US" b="1">
                <a:ea typeface="+mn-lt"/>
                <a:cs typeface="+mn-lt"/>
              </a:rPr>
              <a:t>Treatment Improvement:</a:t>
            </a:r>
            <a:r>
              <a:rPr lang="en-US">
                <a:ea typeface="+mn-lt"/>
                <a:cs typeface="+mn-lt"/>
              </a:rPr>
              <a:t> </a:t>
            </a:r>
            <a:r>
              <a:rPr lang="en-US" b="1">
                <a:ea typeface="+mn-lt"/>
                <a:cs typeface="+mn-lt"/>
              </a:rPr>
              <a:t>+27.2%</a:t>
            </a:r>
            <a:endParaRPr lang="en-US" b="1"/>
          </a:p>
          <a:p>
            <a:r>
              <a:rPr lang="en-US" b="1">
                <a:ea typeface="+mn-lt"/>
                <a:cs typeface="+mn-lt"/>
              </a:rPr>
              <a:t>Additional Impact (</a:t>
            </a:r>
            <a:r>
              <a:rPr lang="en-US" b="1" err="1">
                <a:ea typeface="+mn-lt"/>
                <a:cs typeface="+mn-lt"/>
              </a:rPr>
              <a:t>DiD</a:t>
            </a:r>
            <a:r>
              <a:rPr lang="en-US" b="1">
                <a:ea typeface="+mn-lt"/>
                <a:cs typeface="+mn-lt"/>
              </a:rPr>
              <a:t>):</a:t>
            </a:r>
            <a:r>
              <a:rPr lang="en-US">
                <a:ea typeface="+mn-lt"/>
                <a:cs typeface="+mn-lt"/>
              </a:rPr>
              <a:t> </a:t>
            </a:r>
            <a:r>
              <a:rPr lang="en-US" b="1">
                <a:ea typeface="+mn-lt"/>
                <a:cs typeface="+mn-lt"/>
              </a:rPr>
              <a:t>+13.1%</a:t>
            </a:r>
            <a:endParaRPr lang="en-US" b="1"/>
          </a:p>
        </p:txBody>
      </p:sp>
      <p:sp>
        <p:nvSpPr>
          <p:cNvPr id="5" name="TextBox 4">
            <a:extLst>
              <a:ext uri="{FF2B5EF4-FFF2-40B4-BE49-F238E27FC236}">
                <a16:creationId xmlns:a16="http://schemas.microsoft.com/office/drawing/2014/main" id="{A5F6B812-A544-C143-8935-18D3333BAAC3}"/>
              </a:ext>
            </a:extLst>
          </p:cNvPr>
          <p:cNvSpPr txBox="1"/>
          <p:nvPr/>
        </p:nvSpPr>
        <p:spPr>
          <a:xfrm>
            <a:off x="379562" y="3433472"/>
            <a:ext cx="817114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p>
          <a:p>
            <a:endParaRPr lang="en-US">
              <a:ea typeface="+mn-lt"/>
              <a:cs typeface="+mn-lt"/>
            </a:endParaRPr>
          </a:p>
          <a:p>
            <a:r>
              <a:rPr lang="en-US">
                <a:ea typeface="+mn-lt"/>
                <a:cs typeface="+mn-lt"/>
              </a:rPr>
              <a:t>The Treatment group improved 13.1 percentage points more than the Control group, indicating a strong additional impact of the intervention beyond natural learning progress.</a:t>
            </a:r>
          </a:p>
        </p:txBody>
      </p:sp>
    </p:spTree>
    <p:extLst>
      <p:ext uri="{BB962C8B-B14F-4D97-AF65-F5344CB8AC3E}">
        <p14:creationId xmlns:p14="http://schemas.microsoft.com/office/powerpoint/2010/main" val="3370551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D3477-C4F7-37A0-B3B7-078B934ED297}"/>
              </a:ext>
            </a:extLst>
          </p:cNvPr>
          <p:cNvSpPr>
            <a:spLocks noGrp="1"/>
          </p:cNvSpPr>
          <p:nvPr>
            <p:ph type="title"/>
          </p:nvPr>
        </p:nvSpPr>
        <p:spPr/>
        <p:txBody>
          <a:bodyPr>
            <a:normAutofit/>
          </a:bodyPr>
          <a:lstStyle/>
          <a:p>
            <a:pPr algn="ctr"/>
            <a:r>
              <a:rPr lang="en-US" sz="3600">
                <a:ea typeface="+mj-lt"/>
                <a:cs typeface="+mj-lt"/>
              </a:rPr>
              <a:t>Subject-wise Improvement: Treatment vs Control</a:t>
            </a:r>
            <a:endParaRPr lang="en-US" sz="3600"/>
          </a:p>
        </p:txBody>
      </p:sp>
      <p:pic>
        <p:nvPicPr>
          <p:cNvPr id="7" name="Content Placeholder 6">
            <a:extLst>
              <a:ext uri="{FF2B5EF4-FFF2-40B4-BE49-F238E27FC236}">
                <a16:creationId xmlns:a16="http://schemas.microsoft.com/office/drawing/2014/main" id="{85B10D58-20A4-0DD4-69EE-60828E6F1722}"/>
              </a:ext>
            </a:extLst>
          </p:cNvPr>
          <p:cNvPicPr>
            <a:picLocks noGrp="1" noChangeAspect="1"/>
          </p:cNvPicPr>
          <p:nvPr>
            <p:ph idx="1"/>
          </p:nvPr>
        </p:nvPicPr>
        <p:blipFill>
          <a:blip r:embed="rId2"/>
          <a:stretch>
            <a:fillRect/>
          </a:stretch>
        </p:blipFill>
        <p:spPr>
          <a:xfrm>
            <a:off x="5771358" y="2201405"/>
            <a:ext cx="6421694" cy="3965119"/>
          </a:xfrm>
          <a:prstGeom prst="rect">
            <a:avLst/>
          </a:prstGeom>
        </p:spPr>
      </p:pic>
      <p:sp>
        <p:nvSpPr>
          <p:cNvPr id="8" name="TextBox 7">
            <a:extLst>
              <a:ext uri="{FF2B5EF4-FFF2-40B4-BE49-F238E27FC236}">
                <a16:creationId xmlns:a16="http://schemas.microsoft.com/office/drawing/2014/main" id="{439192D6-8E61-28DF-F13C-25043FAF9D81}"/>
              </a:ext>
            </a:extLst>
          </p:cNvPr>
          <p:cNvSpPr txBox="1"/>
          <p:nvPr/>
        </p:nvSpPr>
        <p:spPr>
          <a:xfrm>
            <a:off x="133009" y="3588890"/>
            <a:ext cx="538410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p>
          <a:p>
            <a:endParaRPr lang="en-US" b="1">
              <a:ea typeface="+mn-lt"/>
              <a:cs typeface="+mn-lt"/>
            </a:endParaRPr>
          </a:p>
          <a:p>
            <a:r>
              <a:rPr lang="en-US">
                <a:ea typeface="+mn-lt"/>
                <a:cs typeface="+mn-lt"/>
              </a:rPr>
              <a:t>The Treatment group outperformed the Control group across </a:t>
            </a:r>
            <a:r>
              <a:rPr lang="en-US" b="1">
                <a:ea typeface="+mn-lt"/>
                <a:cs typeface="+mn-lt"/>
              </a:rPr>
              <a:t>all three subjects</a:t>
            </a:r>
            <a:r>
              <a:rPr lang="en-US">
                <a:ea typeface="+mn-lt"/>
                <a:cs typeface="+mn-lt"/>
              </a:rPr>
              <a:t>, showing that the intervention had broad academic impact rather than improving only one area. The </a:t>
            </a:r>
            <a:r>
              <a:rPr lang="en-US" b="1">
                <a:ea typeface="+mn-lt"/>
                <a:cs typeface="+mn-lt"/>
              </a:rPr>
              <a:t>largest additional gain is seen in Numeracy</a:t>
            </a:r>
            <a:r>
              <a:rPr lang="en-US">
                <a:ea typeface="+mn-lt"/>
                <a:cs typeface="+mn-lt"/>
              </a:rPr>
              <a:t>, indicating the strongest intervention effect in quantitative learning.</a:t>
            </a:r>
          </a:p>
        </p:txBody>
      </p:sp>
      <p:sp>
        <p:nvSpPr>
          <p:cNvPr id="3" name="TextBox 2">
            <a:extLst>
              <a:ext uri="{FF2B5EF4-FFF2-40B4-BE49-F238E27FC236}">
                <a16:creationId xmlns:a16="http://schemas.microsoft.com/office/drawing/2014/main" id="{6BCF2663-B72D-6780-42A9-60DA4EB73AC6}"/>
              </a:ext>
            </a:extLst>
          </p:cNvPr>
          <p:cNvSpPr txBox="1"/>
          <p:nvPr/>
        </p:nvSpPr>
        <p:spPr>
          <a:xfrm>
            <a:off x="136611" y="2497872"/>
            <a:ext cx="49456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Reading: Control 18.3% | Treatment 27.9%</a:t>
            </a:r>
            <a:br>
              <a:rPr lang="en-US" b="1">
                <a:ea typeface="+mn-lt"/>
                <a:cs typeface="+mn-lt"/>
              </a:rPr>
            </a:br>
            <a:r>
              <a:rPr lang="en-US" b="1">
                <a:ea typeface="+mn-lt"/>
                <a:cs typeface="+mn-lt"/>
              </a:rPr>
              <a:t>Writing: Control 12.5% | Treatment 24.4%</a:t>
            </a:r>
            <a:br>
              <a:rPr lang="en-US" b="1">
                <a:ea typeface="+mn-lt"/>
                <a:cs typeface="+mn-lt"/>
              </a:rPr>
            </a:br>
            <a:r>
              <a:rPr lang="en-US" b="1">
                <a:ea typeface="+mn-lt"/>
                <a:cs typeface="+mn-lt"/>
              </a:rPr>
              <a:t>Numeracy: Control 11.8% | Treatment 27.9%</a:t>
            </a:r>
            <a:endParaRPr lang="en-US"/>
          </a:p>
        </p:txBody>
      </p:sp>
    </p:spTree>
    <p:extLst>
      <p:ext uri="{BB962C8B-B14F-4D97-AF65-F5344CB8AC3E}">
        <p14:creationId xmlns:p14="http://schemas.microsoft.com/office/powerpoint/2010/main" val="171654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4964-84B0-7385-A341-84DC5C0D275F}"/>
              </a:ext>
            </a:extLst>
          </p:cNvPr>
          <p:cNvSpPr>
            <a:spLocks noGrp="1"/>
          </p:cNvSpPr>
          <p:nvPr>
            <p:ph type="title"/>
          </p:nvPr>
        </p:nvSpPr>
        <p:spPr/>
        <p:txBody>
          <a:bodyPr>
            <a:normAutofit/>
          </a:bodyPr>
          <a:lstStyle/>
          <a:p>
            <a:pPr algn="ctr"/>
            <a:r>
              <a:rPr lang="en-US" sz="3600">
                <a:ea typeface="+mj-lt"/>
                <a:cs typeface="+mj-lt"/>
              </a:rPr>
              <a:t>Grade 2: Control vs Treatment (Baseline)</a:t>
            </a:r>
            <a:endParaRPr lang="en-US" sz="3600"/>
          </a:p>
        </p:txBody>
      </p:sp>
      <p:pic>
        <p:nvPicPr>
          <p:cNvPr id="4" name="Content Placeholder 3">
            <a:extLst>
              <a:ext uri="{FF2B5EF4-FFF2-40B4-BE49-F238E27FC236}">
                <a16:creationId xmlns:a16="http://schemas.microsoft.com/office/drawing/2014/main" id="{DB2AEDB1-12CA-4AE3-2C90-92EB2A059449}"/>
              </a:ext>
            </a:extLst>
          </p:cNvPr>
          <p:cNvPicPr>
            <a:picLocks noGrp="1" noChangeAspect="1"/>
          </p:cNvPicPr>
          <p:nvPr>
            <p:ph idx="1"/>
          </p:nvPr>
        </p:nvPicPr>
        <p:blipFill>
          <a:blip r:embed="rId2"/>
          <a:stretch>
            <a:fillRect/>
          </a:stretch>
        </p:blipFill>
        <p:spPr>
          <a:xfrm>
            <a:off x="6081938" y="1919570"/>
            <a:ext cx="6113683" cy="4090380"/>
          </a:xfrm>
          <a:prstGeom prst="rect">
            <a:avLst/>
          </a:prstGeom>
        </p:spPr>
      </p:pic>
      <p:sp>
        <p:nvSpPr>
          <p:cNvPr id="5" name="TextBox 4">
            <a:extLst>
              <a:ext uri="{FF2B5EF4-FFF2-40B4-BE49-F238E27FC236}">
                <a16:creationId xmlns:a16="http://schemas.microsoft.com/office/drawing/2014/main" id="{9C5A371E-3269-972A-6B25-5E87D650F2C0}"/>
              </a:ext>
            </a:extLst>
          </p:cNvPr>
          <p:cNvSpPr txBox="1"/>
          <p:nvPr/>
        </p:nvSpPr>
        <p:spPr>
          <a:xfrm>
            <a:off x="150223" y="3969002"/>
            <a:ext cx="580163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In Grade 2, the Treatment group begins from a weaker or mixed baseline position relative to Control, especially in foundational domains. This makes later improvement in this grade important for assessing early intervention effectiveness.</a:t>
            </a:r>
            <a:endParaRPr lang="en-US"/>
          </a:p>
        </p:txBody>
      </p:sp>
      <p:sp>
        <p:nvSpPr>
          <p:cNvPr id="3" name="TextBox 2">
            <a:extLst>
              <a:ext uri="{FF2B5EF4-FFF2-40B4-BE49-F238E27FC236}">
                <a16:creationId xmlns:a16="http://schemas.microsoft.com/office/drawing/2014/main" id="{18494560-05BB-9088-A8A8-74CDE31BEEE4}"/>
              </a:ext>
            </a:extLst>
          </p:cNvPr>
          <p:cNvSpPr txBox="1"/>
          <p:nvPr/>
        </p:nvSpPr>
        <p:spPr>
          <a:xfrm>
            <a:off x="306739" y="2496467"/>
            <a:ext cx="39853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Control (Overall): </a:t>
            </a:r>
            <a:r>
              <a:rPr lang="en-US" b="1">
                <a:ea typeface="+mn-lt"/>
                <a:cs typeface="+mn-lt"/>
              </a:rPr>
              <a:t>33.3%</a:t>
            </a:r>
            <a:endParaRPr lang="en-US" b="1"/>
          </a:p>
          <a:p>
            <a:pPr marL="285750" indent="-285750">
              <a:buFont typeface="Arial"/>
              <a:buChar char="•"/>
            </a:pPr>
            <a:r>
              <a:rPr lang="en-US">
                <a:ea typeface="+mn-lt"/>
                <a:cs typeface="+mn-lt"/>
              </a:rPr>
              <a:t> Treatment (Overall): </a:t>
            </a:r>
            <a:r>
              <a:rPr lang="en-US" b="1">
                <a:ea typeface="+mn-lt"/>
                <a:cs typeface="+mn-lt"/>
              </a:rPr>
              <a:t>19.6%</a:t>
            </a:r>
            <a:endParaRPr lang="en-US" b="1"/>
          </a:p>
        </p:txBody>
      </p:sp>
    </p:spTree>
    <p:extLst>
      <p:ext uri="{BB962C8B-B14F-4D97-AF65-F5344CB8AC3E}">
        <p14:creationId xmlns:p14="http://schemas.microsoft.com/office/powerpoint/2010/main" val="208556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4FC1F-D73A-27D7-AA12-6FFE6D087B25}"/>
              </a:ext>
            </a:extLst>
          </p:cNvPr>
          <p:cNvSpPr>
            <a:spLocks noGrp="1"/>
          </p:cNvSpPr>
          <p:nvPr>
            <p:ph type="title"/>
          </p:nvPr>
        </p:nvSpPr>
        <p:spPr/>
        <p:txBody>
          <a:bodyPr>
            <a:normAutofit/>
          </a:bodyPr>
          <a:lstStyle/>
          <a:p>
            <a:pPr algn="ctr"/>
            <a:r>
              <a:rPr lang="en-US" sz="3600">
                <a:ea typeface="+mj-lt"/>
                <a:cs typeface="+mj-lt"/>
              </a:rPr>
              <a:t>Grade 2: Control vs Treatment (Midline)</a:t>
            </a:r>
            <a:endParaRPr lang="en-US" sz="3600"/>
          </a:p>
        </p:txBody>
      </p:sp>
      <p:pic>
        <p:nvPicPr>
          <p:cNvPr id="4" name="Content Placeholder 3" descr="A graph of a bar graph&#10;&#10;AI-generated content may be incorrect.">
            <a:extLst>
              <a:ext uri="{FF2B5EF4-FFF2-40B4-BE49-F238E27FC236}">
                <a16:creationId xmlns:a16="http://schemas.microsoft.com/office/drawing/2014/main" id="{22545F68-1559-57AC-C0A6-6E129DCBE225}"/>
              </a:ext>
            </a:extLst>
          </p:cNvPr>
          <p:cNvPicPr>
            <a:picLocks noGrp="1" noChangeAspect="1"/>
          </p:cNvPicPr>
          <p:nvPr>
            <p:ph idx="1"/>
          </p:nvPr>
        </p:nvPicPr>
        <p:blipFill>
          <a:blip r:embed="rId2"/>
          <a:stretch>
            <a:fillRect/>
          </a:stretch>
        </p:blipFill>
        <p:spPr>
          <a:xfrm>
            <a:off x="5654416" y="2264036"/>
            <a:ext cx="6540754" cy="4038188"/>
          </a:xfrm>
          <a:prstGeom prst="rect">
            <a:avLst/>
          </a:prstGeom>
        </p:spPr>
      </p:pic>
      <p:sp>
        <p:nvSpPr>
          <p:cNvPr id="5" name="TextBox 4">
            <a:extLst>
              <a:ext uri="{FF2B5EF4-FFF2-40B4-BE49-F238E27FC236}">
                <a16:creationId xmlns:a16="http://schemas.microsoft.com/office/drawing/2014/main" id="{F6A15F49-0AE6-E86F-2172-33068BBA361B}"/>
              </a:ext>
            </a:extLst>
          </p:cNvPr>
          <p:cNvSpPr txBox="1"/>
          <p:nvPr/>
        </p:nvSpPr>
        <p:spPr>
          <a:xfrm>
            <a:off x="335549" y="3427240"/>
            <a:ext cx="517533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p>
          <a:p>
            <a:endParaRPr lang="en-US">
              <a:ea typeface="+mn-lt"/>
              <a:cs typeface="+mn-lt"/>
            </a:endParaRPr>
          </a:p>
          <a:p>
            <a:r>
              <a:rPr lang="en-US">
                <a:ea typeface="+mn-lt"/>
                <a:cs typeface="+mn-lt"/>
              </a:rPr>
              <a:t>By midline, Grade 2 students in the Treatment group show stronger subject-wise performance, suggesting that the intervention is contributing to foundational gains at an early stage of schooling. Improvement at this grade level is particularly important because it supports later learning readiness.</a:t>
            </a:r>
          </a:p>
        </p:txBody>
      </p:sp>
      <p:sp>
        <p:nvSpPr>
          <p:cNvPr id="6" name="TextBox 5">
            <a:extLst>
              <a:ext uri="{FF2B5EF4-FFF2-40B4-BE49-F238E27FC236}">
                <a16:creationId xmlns:a16="http://schemas.microsoft.com/office/drawing/2014/main" id="{408BFA8D-A05B-3E1B-9B9D-B5DBDBE55016}"/>
              </a:ext>
            </a:extLst>
          </p:cNvPr>
          <p:cNvSpPr txBox="1"/>
          <p:nvPr/>
        </p:nvSpPr>
        <p:spPr>
          <a:xfrm>
            <a:off x="330911" y="2519113"/>
            <a:ext cx="39853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50.3%</a:t>
            </a:r>
            <a:endParaRPr lang="en-US"/>
          </a:p>
          <a:p>
            <a:pPr marL="285750" indent="-285750">
              <a:buFont typeface="Arial,Sans-Serif"/>
              <a:buChar char="•"/>
            </a:pPr>
            <a:r>
              <a:rPr lang="en-US"/>
              <a:t>Treatment (Overall): </a:t>
            </a:r>
            <a:r>
              <a:rPr lang="en-US" b="1"/>
              <a:t>40.2%</a:t>
            </a:r>
            <a:endParaRPr lang="en-US"/>
          </a:p>
        </p:txBody>
      </p:sp>
    </p:spTree>
    <p:extLst>
      <p:ext uri="{BB962C8B-B14F-4D97-AF65-F5344CB8AC3E}">
        <p14:creationId xmlns:p14="http://schemas.microsoft.com/office/powerpoint/2010/main" val="638033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1359C-2C3B-9E47-1311-68A8C799ECDE}"/>
              </a:ext>
            </a:extLst>
          </p:cNvPr>
          <p:cNvSpPr>
            <a:spLocks noGrp="1"/>
          </p:cNvSpPr>
          <p:nvPr>
            <p:ph type="title"/>
          </p:nvPr>
        </p:nvSpPr>
        <p:spPr/>
        <p:txBody>
          <a:bodyPr>
            <a:normAutofit/>
          </a:bodyPr>
          <a:lstStyle/>
          <a:p>
            <a:pPr algn="ctr"/>
            <a:r>
              <a:rPr lang="en-US" sz="3600">
                <a:ea typeface="+mj-lt"/>
                <a:cs typeface="+mj-lt"/>
              </a:rPr>
              <a:t>Grade 3: Control vs Treatment (Baseline)</a:t>
            </a:r>
            <a:endParaRPr lang="en-US" sz="3600"/>
          </a:p>
        </p:txBody>
      </p:sp>
      <p:pic>
        <p:nvPicPr>
          <p:cNvPr id="4" name="Content Placeholder 3">
            <a:extLst>
              <a:ext uri="{FF2B5EF4-FFF2-40B4-BE49-F238E27FC236}">
                <a16:creationId xmlns:a16="http://schemas.microsoft.com/office/drawing/2014/main" id="{80DD0F74-465F-24C0-AC7A-A25ACAED00CE}"/>
              </a:ext>
            </a:extLst>
          </p:cNvPr>
          <p:cNvPicPr>
            <a:picLocks noGrp="1" noChangeAspect="1"/>
          </p:cNvPicPr>
          <p:nvPr>
            <p:ph idx="1"/>
          </p:nvPr>
        </p:nvPicPr>
        <p:blipFill>
          <a:blip r:embed="rId2"/>
          <a:stretch>
            <a:fillRect/>
          </a:stretch>
        </p:blipFill>
        <p:spPr>
          <a:xfrm>
            <a:off x="5573279" y="1992638"/>
            <a:ext cx="6619520" cy="3714599"/>
          </a:xfrm>
          <a:prstGeom prst="rect">
            <a:avLst/>
          </a:prstGeom>
        </p:spPr>
      </p:pic>
      <p:sp>
        <p:nvSpPr>
          <p:cNvPr id="3" name="TextBox 2">
            <a:extLst>
              <a:ext uri="{FF2B5EF4-FFF2-40B4-BE49-F238E27FC236}">
                <a16:creationId xmlns:a16="http://schemas.microsoft.com/office/drawing/2014/main" id="{422DB2CE-02A2-E3C8-9617-4719C7F4770B}"/>
              </a:ext>
            </a:extLst>
          </p:cNvPr>
          <p:cNvSpPr txBox="1"/>
          <p:nvPr/>
        </p:nvSpPr>
        <p:spPr>
          <a:xfrm>
            <a:off x="366802" y="2343674"/>
            <a:ext cx="37452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34.2%</a:t>
            </a:r>
            <a:endParaRPr lang="en-US"/>
          </a:p>
          <a:p>
            <a:pPr marL="285750" indent="-285750">
              <a:buFont typeface="Arial,Sans-Serif"/>
              <a:buChar char="•"/>
            </a:pPr>
            <a:r>
              <a:rPr lang="en-US"/>
              <a:t>Treatment (Overall): </a:t>
            </a:r>
            <a:r>
              <a:rPr lang="en-US" b="1"/>
              <a:t>26.1%</a:t>
            </a:r>
            <a:endParaRPr lang="en-US"/>
          </a:p>
        </p:txBody>
      </p:sp>
      <p:sp>
        <p:nvSpPr>
          <p:cNvPr id="5" name="TextBox 4">
            <a:extLst>
              <a:ext uri="{FF2B5EF4-FFF2-40B4-BE49-F238E27FC236}">
                <a16:creationId xmlns:a16="http://schemas.microsoft.com/office/drawing/2014/main" id="{A659A7B5-89C1-9ABE-09F8-BE025650C165}"/>
              </a:ext>
            </a:extLst>
          </p:cNvPr>
          <p:cNvSpPr txBox="1"/>
          <p:nvPr/>
        </p:nvSpPr>
        <p:spPr>
          <a:xfrm>
            <a:off x="251980" y="3849357"/>
            <a:ext cx="517533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Grade 3 baseline results show that the Treatment group did not begin with a performance advantage, reinforcing that later gains should be interpreted as meaningful progress rather than a continuation of stronger starting scores.</a:t>
            </a:r>
            <a:endParaRPr lang="en-US"/>
          </a:p>
        </p:txBody>
      </p:sp>
    </p:spTree>
    <p:extLst>
      <p:ext uri="{BB962C8B-B14F-4D97-AF65-F5344CB8AC3E}">
        <p14:creationId xmlns:p14="http://schemas.microsoft.com/office/powerpoint/2010/main" val="2901027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FF013-787F-B32B-6FC1-BC49E867ADB5}"/>
              </a:ext>
            </a:extLst>
          </p:cNvPr>
          <p:cNvSpPr>
            <a:spLocks noGrp="1"/>
          </p:cNvSpPr>
          <p:nvPr>
            <p:ph type="title"/>
          </p:nvPr>
        </p:nvSpPr>
        <p:spPr/>
        <p:txBody>
          <a:bodyPr>
            <a:normAutofit/>
          </a:bodyPr>
          <a:lstStyle/>
          <a:p>
            <a:pPr algn="ctr"/>
            <a:r>
              <a:rPr lang="en-US" sz="3600">
                <a:ea typeface="+mj-lt"/>
                <a:cs typeface="+mj-lt"/>
              </a:rPr>
              <a:t>Grade 3: Control vs Treatment (Midline)</a:t>
            </a:r>
            <a:endParaRPr lang="en-US">
              <a:ea typeface="+mj-lt"/>
              <a:cs typeface="+mj-lt"/>
            </a:endParaRPr>
          </a:p>
        </p:txBody>
      </p:sp>
      <p:pic>
        <p:nvPicPr>
          <p:cNvPr id="4" name="Content Placeholder 3">
            <a:extLst>
              <a:ext uri="{FF2B5EF4-FFF2-40B4-BE49-F238E27FC236}">
                <a16:creationId xmlns:a16="http://schemas.microsoft.com/office/drawing/2014/main" id="{0F08109A-7189-4054-E35D-492528D4B087}"/>
              </a:ext>
            </a:extLst>
          </p:cNvPr>
          <p:cNvPicPr>
            <a:picLocks noGrp="1" noChangeAspect="1"/>
          </p:cNvPicPr>
          <p:nvPr>
            <p:ph idx="1"/>
          </p:nvPr>
        </p:nvPicPr>
        <p:blipFill>
          <a:blip r:embed="rId2"/>
          <a:stretch>
            <a:fillRect/>
          </a:stretch>
        </p:blipFill>
        <p:spPr>
          <a:xfrm>
            <a:off x="5961232" y="2274475"/>
            <a:ext cx="6083697" cy="3505832"/>
          </a:xfrm>
          <a:prstGeom prst="rect">
            <a:avLst/>
          </a:prstGeom>
        </p:spPr>
      </p:pic>
      <p:sp>
        <p:nvSpPr>
          <p:cNvPr id="3" name="TextBox 2">
            <a:extLst>
              <a:ext uri="{FF2B5EF4-FFF2-40B4-BE49-F238E27FC236}">
                <a16:creationId xmlns:a16="http://schemas.microsoft.com/office/drawing/2014/main" id="{2A63E41B-4AF2-2C90-3973-62937F46C9F7}"/>
              </a:ext>
            </a:extLst>
          </p:cNvPr>
          <p:cNvSpPr txBox="1"/>
          <p:nvPr/>
        </p:nvSpPr>
        <p:spPr>
          <a:xfrm>
            <a:off x="241359" y="3536574"/>
            <a:ext cx="560330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b="1"/>
          </a:p>
          <a:p>
            <a:endParaRPr lang="en-US">
              <a:ea typeface="+mn-lt"/>
              <a:cs typeface="+mn-lt"/>
            </a:endParaRPr>
          </a:p>
          <a:p>
            <a:r>
              <a:rPr lang="en-US">
                <a:ea typeface="+mn-lt"/>
                <a:cs typeface="+mn-lt"/>
              </a:rPr>
              <a:t>At midline, Grade 3 Treatment students demonstrate stronger outcomes across subjects, indicating that the intervention is supporting measurable improvement beyond the baseline gap. This suggests good momentum in the middle primary grades.</a:t>
            </a:r>
            <a:endParaRPr lang="en-US"/>
          </a:p>
        </p:txBody>
      </p:sp>
      <p:sp>
        <p:nvSpPr>
          <p:cNvPr id="5" name="TextBox 4">
            <a:extLst>
              <a:ext uri="{FF2B5EF4-FFF2-40B4-BE49-F238E27FC236}">
                <a16:creationId xmlns:a16="http://schemas.microsoft.com/office/drawing/2014/main" id="{84F2FDCD-FAE4-0E37-4ED7-D548DD3A4E18}"/>
              </a:ext>
            </a:extLst>
          </p:cNvPr>
          <p:cNvSpPr txBox="1"/>
          <p:nvPr/>
        </p:nvSpPr>
        <p:spPr>
          <a:xfrm>
            <a:off x="239165" y="2510874"/>
            <a:ext cx="404799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52.5%</a:t>
            </a:r>
            <a:endParaRPr lang="en-US"/>
          </a:p>
          <a:p>
            <a:pPr marL="285750" indent="-285750">
              <a:buFont typeface="Arial,Sans-Serif"/>
              <a:buChar char="•"/>
            </a:pPr>
            <a:r>
              <a:rPr lang="en-US"/>
              <a:t>Treatment (Overall): </a:t>
            </a:r>
            <a:r>
              <a:rPr lang="en-US" b="1"/>
              <a:t>55.6%</a:t>
            </a:r>
            <a:endParaRPr lang="en-US"/>
          </a:p>
          <a:p>
            <a:pPr algn="l"/>
            <a:endParaRPr lang="en-US"/>
          </a:p>
        </p:txBody>
      </p:sp>
    </p:spTree>
    <p:extLst>
      <p:ext uri="{BB962C8B-B14F-4D97-AF65-F5344CB8AC3E}">
        <p14:creationId xmlns:p14="http://schemas.microsoft.com/office/powerpoint/2010/main" val="68564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1F9A-41FA-6781-B62A-872A0DB5D301}"/>
              </a:ext>
            </a:extLst>
          </p:cNvPr>
          <p:cNvSpPr>
            <a:spLocks noGrp="1"/>
          </p:cNvSpPr>
          <p:nvPr>
            <p:ph type="title"/>
          </p:nvPr>
        </p:nvSpPr>
        <p:spPr/>
        <p:txBody>
          <a:bodyPr>
            <a:normAutofit/>
          </a:bodyPr>
          <a:lstStyle/>
          <a:p>
            <a:pPr algn="ctr"/>
            <a:r>
              <a:rPr lang="en-US" sz="3600">
                <a:ea typeface="+mj-lt"/>
                <a:cs typeface="+mj-lt"/>
              </a:rPr>
              <a:t>Grade 4: Control vs Treatment (Baseline)</a:t>
            </a:r>
            <a:endParaRPr lang="en-US"/>
          </a:p>
        </p:txBody>
      </p:sp>
      <p:pic>
        <p:nvPicPr>
          <p:cNvPr id="7" name="Content Placeholder 6">
            <a:extLst>
              <a:ext uri="{FF2B5EF4-FFF2-40B4-BE49-F238E27FC236}">
                <a16:creationId xmlns:a16="http://schemas.microsoft.com/office/drawing/2014/main" id="{AC1CD76D-0EB2-C163-FA6C-D38486EB7F59}"/>
              </a:ext>
            </a:extLst>
          </p:cNvPr>
          <p:cNvPicPr>
            <a:picLocks noGrp="1" noChangeAspect="1"/>
          </p:cNvPicPr>
          <p:nvPr>
            <p:ph idx="1"/>
          </p:nvPr>
        </p:nvPicPr>
        <p:blipFill>
          <a:blip r:embed="rId2"/>
          <a:stretch>
            <a:fillRect/>
          </a:stretch>
        </p:blipFill>
        <p:spPr>
          <a:xfrm>
            <a:off x="5701592" y="2107461"/>
            <a:ext cx="6362899" cy="3683285"/>
          </a:xfrm>
          <a:prstGeom prst="rect">
            <a:avLst/>
          </a:prstGeom>
        </p:spPr>
      </p:pic>
      <p:sp>
        <p:nvSpPr>
          <p:cNvPr id="3" name="TextBox 2">
            <a:extLst>
              <a:ext uri="{FF2B5EF4-FFF2-40B4-BE49-F238E27FC236}">
                <a16:creationId xmlns:a16="http://schemas.microsoft.com/office/drawing/2014/main" id="{C585DA85-E3D2-FB7C-20CC-B7927EAD2376}"/>
              </a:ext>
            </a:extLst>
          </p:cNvPr>
          <p:cNvSpPr txBox="1"/>
          <p:nvPr/>
        </p:nvSpPr>
        <p:spPr>
          <a:xfrm>
            <a:off x="336220" y="2289653"/>
            <a:ext cx="352607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43.1%</a:t>
            </a:r>
            <a:endParaRPr lang="en-US"/>
          </a:p>
          <a:p>
            <a:pPr marL="285750" indent="-285750">
              <a:buFont typeface="Arial,Sans-Serif"/>
              <a:buChar char="•"/>
            </a:pPr>
            <a:r>
              <a:rPr lang="en-US"/>
              <a:t>Treatment (Overall): </a:t>
            </a:r>
            <a:r>
              <a:rPr lang="en-US" b="1"/>
              <a:t>39.6%</a:t>
            </a:r>
            <a:endParaRPr lang="en-US"/>
          </a:p>
        </p:txBody>
      </p:sp>
      <p:sp>
        <p:nvSpPr>
          <p:cNvPr id="4" name="TextBox 3">
            <a:extLst>
              <a:ext uri="{FF2B5EF4-FFF2-40B4-BE49-F238E27FC236}">
                <a16:creationId xmlns:a16="http://schemas.microsoft.com/office/drawing/2014/main" id="{62A80FB7-A485-3E5C-1C2D-324C84776CC4}"/>
              </a:ext>
            </a:extLst>
          </p:cNvPr>
          <p:cNvSpPr txBox="1"/>
          <p:nvPr/>
        </p:nvSpPr>
        <p:spPr>
          <a:xfrm>
            <a:off x="140275" y="3690036"/>
            <a:ext cx="536322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Grade 4 baseline performance remains uneven across subjects, but the Treatment group generally starts from a weaker or comparable level rather than an advantage. This strengthens the interpretation of later gains as intervention-driven progress.</a:t>
            </a:r>
            <a:endParaRPr lang="en-US"/>
          </a:p>
        </p:txBody>
      </p:sp>
    </p:spTree>
    <p:extLst>
      <p:ext uri="{BB962C8B-B14F-4D97-AF65-F5344CB8AC3E}">
        <p14:creationId xmlns:p14="http://schemas.microsoft.com/office/powerpoint/2010/main" val="91266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081F6-C9FD-5C59-8E41-A9A5454827F6}"/>
              </a:ext>
            </a:extLst>
          </p:cNvPr>
          <p:cNvSpPr>
            <a:spLocks noGrp="1"/>
          </p:cNvSpPr>
          <p:nvPr>
            <p:ph type="title"/>
          </p:nvPr>
        </p:nvSpPr>
        <p:spPr/>
        <p:txBody>
          <a:bodyPr/>
          <a:lstStyle/>
          <a:p>
            <a:pPr algn="ctr"/>
            <a:r>
              <a:rPr lang="en-US">
                <a:ea typeface="+mj-lt"/>
                <a:cs typeface="+mj-lt"/>
              </a:rPr>
              <a:t>Grade 4: Control vs Treatment (Midline)</a:t>
            </a:r>
            <a:endParaRPr lang="en-US"/>
          </a:p>
        </p:txBody>
      </p:sp>
      <p:pic>
        <p:nvPicPr>
          <p:cNvPr id="4" name="Content Placeholder 3">
            <a:extLst>
              <a:ext uri="{FF2B5EF4-FFF2-40B4-BE49-F238E27FC236}">
                <a16:creationId xmlns:a16="http://schemas.microsoft.com/office/drawing/2014/main" id="{097333BE-F617-E58C-0821-EBA98F1DBE88}"/>
              </a:ext>
            </a:extLst>
          </p:cNvPr>
          <p:cNvPicPr>
            <a:picLocks noGrp="1" noChangeAspect="1"/>
          </p:cNvPicPr>
          <p:nvPr>
            <p:ph idx="1"/>
          </p:nvPr>
        </p:nvPicPr>
        <p:blipFill>
          <a:blip r:embed="rId2"/>
          <a:stretch>
            <a:fillRect/>
          </a:stretch>
        </p:blipFill>
        <p:spPr>
          <a:xfrm>
            <a:off x="5465028" y="2264036"/>
            <a:ext cx="6731641" cy="3464080"/>
          </a:xfrm>
          <a:prstGeom prst="rect">
            <a:avLst/>
          </a:prstGeom>
        </p:spPr>
      </p:pic>
      <p:sp>
        <p:nvSpPr>
          <p:cNvPr id="3" name="TextBox 2">
            <a:extLst>
              <a:ext uri="{FF2B5EF4-FFF2-40B4-BE49-F238E27FC236}">
                <a16:creationId xmlns:a16="http://schemas.microsoft.com/office/drawing/2014/main" id="{4D57523A-8739-5AF6-44B2-8F13A16B836B}"/>
              </a:ext>
            </a:extLst>
          </p:cNvPr>
          <p:cNvSpPr txBox="1"/>
          <p:nvPr/>
        </p:nvSpPr>
        <p:spPr>
          <a:xfrm>
            <a:off x="286778" y="2505378"/>
            <a:ext cx="41315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65.6%</a:t>
            </a:r>
            <a:endParaRPr lang="en-US"/>
          </a:p>
          <a:p>
            <a:pPr marL="285750" indent="-285750">
              <a:buFont typeface="Arial,Sans-Serif"/>
              <a:buChar char="•"/>
            </a:pPr>
            <a:r>
              <a:rPr lang="en-US"/>
              <a:t>Treatment (Overall): </a:t>
            </a:r>
            <a:r>
              <a:rPr lang="en-US" b="1"/>
              <a:t>68.4%</a:t>
            </a:r>
            <a:endParaRPr lang="en-US"/>
          </a:p>
          <a:p>
            <a:pPr algn="l"/>
            <a:endParaRPr lang="en-US"/>
          </a:p>
        </p:txBody>
      </p:sp>
      <p:sp>
        <p:nvSpPr>
          <p:cNvPr id="5" name="TextBox 4">
            <a:extLst>
              <a:ext uri="{FF2B5EF4-FFF2-40B4-BE49-F238E27FC236}">
                <a16:creationId xmlns:a16="http://schemas.microsoft.com/office/drawing/2014/main" id="{4760AAE2-107A-20BE-30C7-F1A75B8635AA}"/>
              </a:ext>
            </a:extLst>
          </p:cNvPr>
          <p:cNvSpPr txBox="1"/>
          <p:nvPr/>
        </p:nvSpPr>
        <p:spPr>
          <a:xfrm>
            <a:off x="288243" y="3661100"/>
            <a:ext cx="496656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dirty="0">
                <a:ea typeface="+mn-lt"/>
                <a:cs typeface="+mn-lt"/>
              </a:rPr>
            </a:br>
            <a:r>
              <a:rPr lang="en-US" dirty="0">
                <a:ea typeface="+mn-lt"/>
                <a:cs typeface="+mn-lt"/>
              </a:rPr>
              <a:t>By midline, Grade 4 Treatment students show stronger subject-wise performance, especially where the intervention appears to have improved both literacy and numeracy outcomes. This indicates that impact is not limited to early grades only.</a:t>
            </a:r>
            <a:endParaRPr lang="en-US" dirty="0"/>
          </a:p>
        </p:txBody>
      </p:sp>
    </p:spTree>
    <p:extLst>
      <p:ext uri="{BB962C8B-B14F-4D97-AF65-F5344CB8AC3E}">
        <p14:creationId xmlns:p14="http://schemas.microsoft.com/office/powerpoint/2010/main" val="1275756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B4EE-5AB1-9CB0-C2C6-BBCBA74BEB23}"/>
              </a:ext>
            </a:extLst>
          </p:cNvPr>
          <p:cNvSpPr>
            <a:spLocks noGrp="1"/>
          </p:cNvSpPr>
          <p:nvPr>
            <p:ph type="title"/>
          </p:nvPr>
        </p:nvSpPr>
        <p:spPr/>
        <p:txBody>
          <a:bodyPr>
            <a:normAutofit/>
          </a:bodyPr>
          <a:lstStyle/>
          <a:p>
            <a:pPr algn="ctr"/>
            <a:r>
              <a:rPr lang="en-US" sz="3600">
                <a:ea typeface="+mj-lt"/>
                <a:cs typeface="+mj-lt"/>
              </a:rPr>
              <a:t>Grade 5: Control vs Treatment (Baseline)</a:t>
            </a:r>
            <a:endParaRPr lang="en-US" sz="3600"/>
          </a:p>
        </p:txBody>
      </p:sp>
      <p:pic>
        <p:nvPicPr>
          <p:cNvPr id="4" name="Content Placeholder 3">
            <a:extLst>
              <a:ext uri="{FF2B5EF4-FFF2-40B4-BE49-F238E27FC236}">
                <a16:creationId xmlns:a16="http://schemas.microsoft.com/office/drawing/2014/main" id="{7E3CDC1A-AC24-3E43-5FD6-FC6786D52847}"/>
              </a:ext>
            </a:extLst>
          </p:cNvPr>
          <p:cNvPicPr>
            <a:picLocks noGrp="1" noChangeAspect="1"/>
          </p:cNvPicPr>
          <p:nvPr>
            <p:ph idx="1"/>
          </p:nvPr>
        </p:nvPicPr>
        <p:blipFill>
          <a:blip r:embed="rId2"/>
          <a:stretch>
            <a:fillRect/>
          </a:stretch>
        </p:blipFill>
        <p:spPr>
          <a:xfrm>
            <a:off x="5630597" y="1961324"/>
            <a:ext cx="6557077" cy="3985996"/>
          </a:xfrm>
          <a:prstGeom prst="rect">
            <a:avLst/>
          </a:prstGeom>
        </p:spPr>
      </p:pic>
      <p:sp>
        <p:nvSpPr>
          <p:cNvPr id="3" name="TextBox 2">
            <a:extLst>
              <a:ext uri="{FF2B5EF4-FFF2-40B4-BE49-F238E27FC236}">
                <a16:creationId xmlns:a16="http://schemas.microsoft.com/office/drawing/2014/main" id="{C60870CA-F9C7-6D89-5256-62C3833F138E}"/>
              </a:ext>
            </a:extLst>
          </p:cNvPr>
          <p:cNvSpPr txBox="1"/>
          <p:nvPr/>
        </p:nvSpPr>
        <p:spPr>
          <a:xfrm>
            <a:off x="205834" y="2511605"/>
            <a:ext cx="33068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51.4%</a:t>
            </a:r>
            <a:endParaRPr lang="en-US"/>
          </a:p>
          <a:p>
            <a:pPr marL="285750" indent="-285750">
              <a:buFont typeface="Arial,Sans-Serif"/>
              <a:buChar char="•"/>
            </a:pPr>
            <a:r>
              <a:rPr lang="en-US"/>
              <a:t>Treatment (Overall): </a:t>
            </a:r>
            <a:r>
              <a:rPr lang="en-US" b="1"/>
              <a:t>44.1%</a:t>
            </a:r>
            <a:endParaRPr lang="en-US"/>
          </a:p>
        </p:txBody>
      </p:sp>
      <p:sp>
        <p:nvSpPr>
          <p:cNvPr id="5" name="TextBox 4">
            <a:extLst>
              <a:ext uri="{FF2B5EF4-FFF2-40B4-BE49-F238E27FC236}">
                <a16:creationId xmlns:a16="http://schemas.microsoft.com/office/drawing/2014/main" id="{F4C1325F-FB97-0EB6-2A9D-EAE67889BE05}"/>
              </a:ext>
            </a:extLst>
          </p:cNvPr>
          <p:cNvSpPr txBox="1"/>
          <p:nvPr/>
        </p:nvSpPr>
        <p:spPr>
          <a:xfrm>
            <a:off x="208399" y="3419371"/>
            <a:ext cx="522752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At baseline, Grade 5 results show subject-level variation between groups, but the Treatment cohort does not begin with a clear academic advantage. This makes later Treatment gains more meaningful at the upper-primary level.</a:t>
            </a:r>
            <a:endParaRPr lang="en-US"/>
          </a:p>
        </p:txBody>
      </p:sp>
    </p:spTree>
    <p:extLst>
      <p:ext uri="{BB962C8B-B14F-4D97-AF65-F5344CB8AC3E}">
        <p14:creationId xmlns:p14="http://schemas.microsoft.com/office/powerpoint/2010/main" val="293925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7157-0EEE-87CC-3A9F-839804F6BDD4}"/>
              </a:ext>
            </a:extLst>
          </p:cNvPr>
          <p:cNvSpPr>
            <a:spLocks noGrp="1"/>
          </p:cNvSpPr>
          <p:nvPr>
            <p:ph type="title"/>
          </p:nvPr>
        </p:nvSpPr>
        <p:spPr/>
        <p:txBody>
          <a:bodyPr>
            <a:normAutofit/>
          </a:bodyPr>
          <a:lstStyle/>
          <a:p>
            <a:pPr algn="ctr"/>
            <a:r>
              <a:rPr lang="en-US" sz="3600">
                <a:ea typeface="+mj-lt"/>
                <a:cs typeface="+mj-lt"/>
              </a:rPr>
              <a:t>Grade 5: Control vs Treatment (Midline)</a:t>
            </a:r>
            <a:endParaRPr lang="en-US" sz="3600"/>
          </a:p>
        </p:txBody>
      </p:sp>
      <p:pic>
        <p:nvPicPr>
          <p:cNvPr id="4" name="Content Placeholder 3">
            <a:extLst>
              <a:ext uri="{FF2B5EF4-FFF2-40B4-BE49-F238E27FC236}">
                <a16:creationId xmlns:a16="http://schemas.microsoft.com/office/drawing/2014/main" id="{F67B73C7-702A-75AC-54BB-674AB831A425}"/>
              </a:ext>
            </a:extLst>
          </p:cNvPr>
          <p:cNvPicPr>
            <a:picLocks noGrp="1" noChangeAspect="1"/>
          </p:cNvPicPr>
          <p:nvPr>
            <p:ph idx="1"/>
          </p:nvPr>
        </p:nvPicPr>
        <p:blipFill>
          <a:blip r:embed="rId2"/>
          <a:stretch>
            <a:fillRect/>
          </a:stretch>
        </p:blipFill>
        <p:spPr>
          <a:xfrm>
            <a:off x="5585975" y="2389296"/>
            <a:ext cx="6604568" cy="3589339"/>
          </a:xfrm>
          <a:prstGeom prst="rect">
            <a:avLst/>
          </a:prstGeom>
        </p:spPr>
      </p:pic>
      <p:sp>
        <p:nvSpPr>
          <p:cNvPr id="3" name="TextBox 2">
            <a:extLst>
              <a:ext uri="{FF2B5EF4-FFF2-40B4-BE49-F238E27FC236}">
                <a16:creationId xmlns:a16="http://schemas.microsoft.com/office/drawing/2014/main" id="{3576B470-6A31-57C5-920F-657CAB4315D6}"/>
              </a:ext>
            </a:extLst>
          </p:cNvPr>
          <p:cNvSpPr txBox="1"/>
          <p:nvPr/>
        </p:nvSpPr>
        <p:spPr>
          <a:xfrm>
            <a:off x="215358" y="3875549"/>
            <a:ext cx="516489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By midline, Grade 5 Treatment students remain competitive or stronger across subjects, suggesting that the intervention continues to support learning progress even at higher grade levels where academic expectations are more demanding.</a:t>
            </a:r>
            <a:endParaRPr lang="en-US"/>
          </a:p>
        </p:txBody>
      </p:sp>
      <p:sp>
        <p:nvSpPr>
          <p:cNvPr id="5" name="TextBox 4">
            <a:extLst>
              <a:ext uri="{FF2B5EF4-FFF2-40B4-BE49-F238E27FC236}">
                <a16:creationId xmlns:a16="http://schemas.microsoft.com/office/drawing/2014/main" id="{1A159E1F-DEE9-F56E-10CE-CF95C30D9E25}"/>
              </a:ext>
            </a:extLst>
          </p:cNvPr>
          <p:cNvSpPr txBox="1"/>
          <p:nvPr/>
        </p:nvSpPr>
        <p:spPr>
          <a:xfrm>
            <a:off x="216640" y="2656461"/>
            <a:ext cx="363045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a:t>Control (Overall): </a:t>
            </a:r>
            <a:r>
              <a:rPr lang="en-US" b="1"/>
              <a:t>58.7%</a:t>
            </a:r>
            <a:endParaRPr lang="en-US"/>
          </a:p>
          <a:p>
            <a:pPr marL="285750" indent="-285750">
              <a:buFont typeface="Arial,Sans-Serif"/>
              <a:buChar char="•"/>
            </a:pPr>
            <a:r>
              <a:rPr lang="en-US"/>
              <a:t>Treatment (Overall): </a:t>
            </a:r>
            <a:r>
              <a:rPr lang="en-US" b="1"/>
              <a:t>72.7%</a:t>
            </a:r>
            <a:endParaRPr lang="en-US"/>
          </a:p>
        </p:txBody>
      </p:sp>
    </p:spTree>
    <p:extLst>
      <p:ext uri="{BB962C8B-B14F-4D97-AF65-F5344CB8AC3E}">
        <p14:creationId xmlns:p14="http://schemas.microsoft.com/office/powerpoint/2010/main" val="709548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905CC-2717-6263-89B5-FA3526BAA497}"/>
              </a:ext>
            </a:extLst>
          </p:cNvPr>
          <p:cNvSpPr>
            <a:spLocks noGrp="1"/>
          </p:cNvSpPr>
          <p:nvPr>
            <p:ph type="title"/>
          </p:nvPr>
        </p:nvSpPr>
        <p:spPr/>
        <p:txBody>
          <a:bodyPr>
            <a:normAutofit/>
          </a:bodyPr>
          <a:lstStyle/>
          <a:p>
            <a:pPr algn="ctr"/>
            <a:r>
              <a:rPr lang="en-US" sz="4000">
                <a:ea typeface="+mj-lt"/>
                <a:cs typeface="+mj-lt"/>
              </a:rPr>
              <a:t>Reading Scores by School (Baseline)</a:t>
            </a:r>
            <a:endParaRPr lang="en-US" sz="4000"/>
          </a:p>
        </p:txBody>
      </p:sp>
      <p:pic>
        <p:nvPicPr>
          <p:cNvPr id="22" name="Content Placeholder 21">
            <a:extLst>
              <a:ext uri="{FF2B5EF4-FFF2-40B4-BE49-F238E27FC236}">
                <a16:creationId xmlns:a16="http://schemas.microsoft.com/office/drawing/2014/main" id="{FED95F01-7599-CB0B-3C25-BE4DEC975465}"/>
              </a:ext>
            </a:extLst>
          </p:cNvPr>
          <p:cNvPicPr>
            <a:picLocks noGrp="1" noChangeAspect="1"/>
          </p:cNvPicPr>
          <p:nvPr>
            <p:ph idx="1"/>
          </p:nvPr>
        </p:nvPicPr>
        <p:blipFill>
          <a:blip r:embed="rId2"/>
          <a:stretch>
            <a:fillRect/>
          </a:stretch>
        </p:blipFill>
        <p:spPr>
          <a:xfrm>
            <a:off x="5619270" y="2076145"/>
            <a:ext cx="6454472" cy="3798105"/>
          </a:xfrm>
          <a:prstGeom prst="rect">
            <a:avLst/>
          </a:prstGeom>
        </p:spPr>
      </p:pic>
      <p:sp>
        <p:nvSpPr>
          <p:cNvPr id="4" name="TextBox 3">
            <a:extLst>
              <a:ext uri="{FF2B5EF4-FFF2-40B4-BE49-F238E27FC236}">
                <a16:creationId xmlns:a16="http://schemas.microsoft.com/office/drawing/2014/main" id="{787480D9-2887-85FB-42F7-288B06A8FFED}"/>
              </a:ext>
            </a:extLst>
          </p:cNvPr>
          <p:cNvSpPr txBox="1"/>
          <p:nvPr/>
        </p:nvSpPr>
        <p:spPr>
          <a:xfrm>
            <a:off x="2377" y="3433657"/>
            <a:ext cx="542585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 Baseline Reading performance varies substantially across schools, showing that students did not start from a uniform literacy level. This variation highlights why school-wise comparison is important for understanding where the intervention had the most room to create impact.</a:t>
            </a:r>
            <a:endParaRPr lang="en-US"/>
          </a:p>
        </p:txBody>
      </p:sp>
    </p:spTree>
    <p:extLst>
      <p:ext uri="{BB962C8B-B14F-4D97-AF65-F5344CB8AC3E}">
        <p14:creationId xmlns:p14="http://schemas.microsoft.com/office/powerpoint/2010/main" val="409877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03672-EFDA-FA43-626E-CAEC7B6B64B3}"/>
              </a:ext>
            </a:extLst>
          </p:cNvPr>
          <p:cNvSpPr>
            <a:spLocks noGrp="1"/>
          </p:cNvSpPr>
          <p:nvPr>
            <p:ph type="title"/>
          </p:nvPr>
        </p:nvSpPr>
        <p:spPr/>
        <p:txBody>
          <a:bodyPr>
            <a:normAutofit/>
          </a:bodyPr>
          <a:lstStyle/>
          <a:p>
            <a:pPr algn="ctr"/>
            <a:r>
              <a:rPr lang="en-US" sz="3600">
                <a:ea typeface="+mj-lt"/>
                <a:cs typeface="+mj-lt"/>
              </a:rPr>
              <a:t>Reading Scores by School (Midline)</a:t>
            </a:r>
            <a:endParaRPr lang="en-US" sz="3600"/>
          </a:p>
        </p:txBody>
      </p:sp>
      <p:pic>
        <p:nvPicPr>
          <p:cNvPr id="4" name="Content Placeholder 3" descr="A graph of different colored bars&#10;&#10;AI-generated content may be incorrect.">
            <a:extLst>
              <a:ext uri="{FF2B5EF4-FFF2-40B4-BE49-F238E27FC236}">
                <a16:creationId xmlns:a16="http://schemas.microsoft.com/office/drawing/2014/main" id="{D847F376-A678-E4B8-06EF-4516DD5AEFE0}"/>
              </a:ext>
            </a:extLst>
          </p:cNvPr>
          <p:cNvPicPr>
            <a:picLocks noGrp="1" noChangeAspect="1"/>
          </p:cNvPicPr>
          <p:nvPr>
            <p:ph idx="1"/>
          </p:nvPr>
        </p:nvPicPr>
        <p:blipFill>
          <a:blip r:embed="rId2"/>
          <a:stretch>
            <a:fillRect/>
          </a:stretch>
        </p:blipFill>
        <p:spPr>
          <a:xfrm>
            <a:off x="5615523" y="1877817"/>
            <a:ext cx="6576788" cy="4048626"/>
          </a:xfrm>
          <a:prstGeom prst="rect">
            <a:avLst/>
          </a:prstGeom>
        </p:spPr>
      </p:pic>
      <p:sp>
        <p:nvSpPr>
          <p:cNvPr id="3" name="TextBox 2">
            <a:extLst>
              <a:ext uri="{FF2B5EF4-FFF2-40B4-BE49-F238E27FC236}">
                <a16:creationId xmlns:a16="http://schemas.microsoft.com/office/drawing/2014/main" id="{B3AB7A34-7AE7-20FA-788C-3D16370B9EAF}"/>
              </a:ext>
            </a:extLst>
          </p:cNvPr>
          <p:cNvSpPr txBox="1"/>
          <p:nvPr/>
        </p:nvSpPr>
        <p:spPr>
          <a:xfrm>
            <a:off x="164448" y="3667516"/>
            <a:ext cx="518577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By midline, Reading performance improves across several schools, with stronger gains visible in Treatment-supported schools. This suggests that the intervention contributed to school-level progress in foundational literacy.</a:t>
            </a:r>
            <a:endParaRPr lang="en-US"/>
          </a:p>
        </p:txBody>
      </p:sp>
    </p:spTree>
    <p:extLst>
      <p:ext uri="{BB962C8B-B14F-4D97-AF65-F5344CB8AC3E}">
        <p14:creationId xmlns:p14="http://schemas.microsoft.com/office/powerpoint/2010/main" val="3252248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2256-323B-71C1-EE91-2FAA8BE4C36E}"/>
              </a:ext>
            </a:extLst>
          </p:cNvPr>
          <p:cNvSpPr>
            <a:spLocks noGrp="1"/>
          </p:cNvSpPr>
          <p:nvPr>
            <p:ph type="title"/>
          </p:nvPr>
        </p:nvSpPr>
        <p:spPr>
          <a:xfrm>
            <a:off x="838200" y="-217"/>
            <a:ext cx="10515600" cy="1325563"/>
          </a:xfrm>
        </p:spPr>
        <p:txBody>
          <a:bodyPr>
            <a:normAutofit/>
          </a:bodyPr>
          <a:lstStyle/>
          <a:p>
            <a:pPr algn="ctr"/>
            <a:r>
              <a:rPr lang="en-US" sz="3600">
                <a:ea typeface="+mj-lt"/>
                <a:cs typeface="+mj-lt"/>
              </a:rPr>
              <a:t>Numeracy Scores by School (Baseline)</a:t>
            </a:r>
            <a:endParaRPr lang="en-US" sz="3600"/>
          </a:p>
        </p:txBody>
      </p:sp>
      <p:pic>
        <p:nvPicPr>
          <p:cNvPr id="7" name="Content Placeholder 6">
            <a:extLst>
              <a:ext uri="{FF2B5EF4-FFF2-40B4-BE49-F238E27FC236}">
                <a16:creationId xmlns:a16="http://schemas.microsoft.com/office/drawing/2014/main" id="{90648BB8-21E4-FC60-259D-75CD8FB3B9BC}"/>
              </a:ext>
            </a:extLst>
          </p:cNvPr>
          <p:cNvPicPr>
            <a:picLocks noGrp="1" noChangeAspect="1"/>
          </p:cNvPicPr>
          <p:nvPr>
            <p:ph idx="1"/>
          </p:nvPr>
        </p:nvPicPr>
        <p:blipFill>
          <a:blip r:embed="rId2"/>
          <a:stretch>
            <a:fillRect/>
          </a:stretch>
        </p:blipFill>
        <p:spPr>
          <a:xfrm>
            <a:off x="5329339" y="1940446"/>
            <a:ext cx="6867319" cy="4142570"/>
          </a:xfrm>
          <a:prstGeom prst="rect">
            <a:avLst/>
          </a:prstGeom>
        </p:spPr>
      </p:pic>
      <p:sp>
        <p:nvSpPr>
          <p:cNvPr id="3" name="TextBox 2">
            <a:extLst>
              <a:ext uri="{FF2B5EF4-FFF2-40B4-BE49-F238E27FC236}">
                <a16:creationId xmlns:a16="http://schemas.microsoft.com/office/drawing/2014/main" id="{10B93C7F-C3D9-64DD-E1F5-28C1A843AE05}"/>
              </a:ext>
            </a:extLst>
          </p:cNvPr>
          <p:cNvSpPr txBox="1"/>
          <p:nvPr/>
        </p:nvSpPr>
        <p:spPr>
          <a:xfrm>
            <a:off x="225978" y="2863392"/>
            <a:ext cx="490393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Baseline Numeracy scores are more uneven across schools, indicating that quantitative learning was already a challenge area before the intervention began. This makes Numeracy an important domain for judging school-level improvement.</a:t>
            </a:r>
            <a:endParaRPr lang="en-US"/>
          </a:p>
        </p:txBody>
      </p:sp>
    </p:spTree>
    <p:extLst>
      <p:ext uri="{BB962C8B-B14F-4D97-AF65-F5344CB8AC3E}">
        <p14:creationId xmlns:p14="http://schemas.microsoft.com/office/powerpoint/2010/main" val="1576937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202A5-627E-5359-792E-040453AD0369}"/>
              </a:ext>
            </a:extLst>
          </p:cNvPr>
          <p:cNvSpPr>
            <a:spLocks noGrp="1"/>
          </p:cNvSpPr>
          <p:nvPr>
            <p:ph type="title"/>
          </p:nvPr>
        </p:nvSpPr>
        <p:spPr>
          <a:xfrm>
            <a:off x="838200" y="239865"/>
            <a:ext cx="10515600" cy="1325563"/>
          </a:xfrm>
        </p:spPr>
        <p:txBody>
          <a:bodyPr>
            <a:normAutofit/>
          </a:bodyPr>
          <a:lstStyle/>
          <a:p>
            <a:pPr algn="ctr"/>
            <a:r>
              <a:rPr lang="en-US" sz="3600">
                <a:ea typeface="+mj-lt"/>
                <a:cs typeface="+mj-lt"/>
              </a:rPr>
              <a:t>Numeracy Scores by School (Midline)</a:t>
            </a:r>
            <a:endParaRPr lang="en-US" sz="3600"/>
          </a:p>
        </p:txBody>
      </p:sp>
      <p:pic>
        <p:nvPicPr>
          <p:cNvPr id="4" name="Content Placeholder 3">
            <a:extLst>
              <a:ext uri="{FF2B5EF4-FFF2-40B4-BE49-F238E27FC236}">
                <a16:creationId xmlns:a16="http://schemas.microsoft.com/office/drawing/2014/main" id="{129C905F-C25F-9651-600A-463EBFD44CC9}"/>
              </a:ext>
            </a:extLst>
          </p:cNvPr>
          <p:cNvPicPr>
            <a:picLocks noGrp="1" noChangeAspect="1"/>
          </p:cNvPicPr>
          <p:nvPr>
            <p:ph idx="1"/>
          </p:nvPr>
        </p:nvPicPr>
        <p:blipFill>
          <a:blip r:embed="rId2"/>
          <a:stretch>
            <a:fillRect/>
          </a:stretch>
        </p:blipFill>
        <p:spPr>
          <a:xfrm>
            <a:off x="5032788" y="2097023"/>
            <a:ext cx="7157709" cy="3735474"/>
          </a:xfrm>
          <a:prstGeom prst="rect">
            <a:avLst/>
          </a:prstGeom>
        </p:spPr>
      </p:pic>
      <p:sp>
        <p:nvSpPr>
          <p:cNvPr id="3" name="TextBox 2">
            <a:extLst>
              <a:ext uri="{FF2B5EF4-FFF2-40B4-BE49-F238E27FC236}">
                <a16:creationId xmlns:a16="http://schemas.microsoft.com/office/drawing/2014/main" id="{093D4DFA-8824-30B4-FCB7-A03DE3AFB254}"/>
              </a:ext>
            </a:extLst>
          </p:cNvPr>
          <p:cNvSpPr txBox="1"/>
          <p:nvPr/>
        </p:nvSpPr>
        <p:spPr>
          <a:xfrm>
            <a:off x="245207" y="3531083"/>
            <a:ext cx="449684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Midline Numeracy performance shows stronger gains across schools, especially where Treatment support is present. This reinforces the broader finding that Numeracy is one of the strongest areas of intervention impact.</a:t>
            </a:r>
            <a:endParaRPr lang="en-US"/>
          </a:p>
        </p:txBody>
      </p:sp>
    </p:spTree>
    <p:extLst>
      <p:ext uri="{BB962C8B-B14F-4D97-AF65-F5344CB8AC3E}">
        <p14:creationId xmlns:p14="http://schemas.microsoft.com/office/powerpoint/2010/main" val="1869915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6534-874A-7DF6-D10B-44EAF27AC4FE}"/>
              </a:ext>
            </a:extLst>
          </p:cNvPr>
          <p:cNvSpPr>
            <a:spLocks noGrp="1"/>
          </p:cNvSpPr>
          <p:nvPr>
            <p:ph type="title"/>
          </p:nvPr>
        </p:nvSpPr>
        <p:spPr/>
        <p:txBody>
          <a:bodyPr>
            <a:normAutofit/>
          </a:bodyPr>
          <a:lstStyle/>
          <a:p>
            <a:pPr algn="ctr"/>
            <a:r>
              <a:rPr lang="en-US" sz="3600">
                <a:ea typeface="+mj-lt"/>
                <a:cs typeface="+mj-lt"/>
              </a:rPr>
              <a:t>Overall Scores by School (Baseline)</a:t>
            </a:r>
            <a:endParaRPr lang="en-US" sz="3600"/>
          </a:p>
        </p:txBody>
      </p:sp>
      <p:pic>
        <p:nvPicPr>
          <p:cNvPr id="4" name="Content Placeholder 3">
            <a:extLst>
              <a:ext uri="{FF2B5EF4-FFF2-40B4-BE49-F238E27FC236}">
                <a16:creationId xmlns:a16="http://schemas.microsoft.com/office/drawing/2014/main" id="{81DA2BD4-C1C4-5D98-8A72-2ADA69187035}"/>
              </a:ext>
            </a:extLst>
          </p:cNvPr>
          <p:cNvPicPr>
            <a:picLocks noGrp="1" noChangeAspect="1"/>
          </p:cNvPicPr>
          <p:nvPr>
            <p:ph idx="1"/>
          </p:nvPr>
        </p:nvPicPr>
        <p:blipFill>
          <a:blip r:embed="rId2"/>
          <a:stretch>
            <a:fillRect/>
          </a:stretch>
        </p:blipFill>
        <p:spPr>
          <a:xfrm>
            <a:off x="5257027" y="1898694"/>
            <a:ext cx="6938878" cy="4173885"/>
          </a:xfrm>
          <a:prstGeom prst="rect">
            <a:avLst/>
          </a:prstGeom>
        </p:spPr>
      </p:pic>
      <p:sp>
        <p:nvSpPr>
          <p:cNvPr id="3" name="TextBox 2">
            <a:extLst>
              <a:ext uri="{FF2B5EF4-FFF2-40B4-BE49-F238E27FC236}">
                <a16:creationId xmlns:a16="http://schemas.microsoft.com/office/drawing/2014/main" id="{3D57178F-35EB-6D02-5542-E25528CA91F5}"/>
              </a:ext>
            </a:extLst>
          </p:cNvPr>
          <p:cNvSpPr txBox="1"/>
          <p:nvPr/>
        </p:nvSpPr>
        <p:spPr>
          <a:xfrm>
            <a:off x="180927" y="3165558"/>
            <a:ext cx="478911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At baseline, overall school performance differs noticeably, showing variation in starting readiness across the eight schools. These differences make school-wise tracking essential for understanding intervention effectiveness more accurately.</a:t>
            </a:r>
            <a:endParaRPr lang="en-US"/>
          </a:p>
        </p:txBody>
      </p:sp>
    </p:spTree>
    <p:extLst>
      <p:ext uri="{BB962C8B-B14F-4D97-AF65-F5344CB8AC3E}">
        <p14:creationId xmlns:p14="http://schemas.microsoft.com/office/powerpoint/2010/main" val="1819467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38AFA-0526-13A6-9D5F-FF5D02041AC7}"/>
              </a:ext>
            </a:extLst>
          </p:cNvPr>
          <p:cNvSpPr>
            <a:spLocks noGrp="1"/>
          </p:cNvSpPr>
          <p:nvPr>
            <p:ph type="title"/>
          </p:nvPr>
        </p:nvSpPr>
        <p:spPr/>
        <p:txBody>
          <a:bodyPr>
            <a:normAutofit/>
          </a:bodyPr>
          <a:lstStyle/>
          <a:p>
            <a:pPr algn="ctr"/>
            <a:r>
              <a:rPr lang="en-US" sz="3600">
                <a:ea typeface="+mj-lt"/>
                <a:cs typeface="+mj-lt"/>
              </a:rPr>
              <a:t>Overall Scores by School (Midline)</a:t>
            </a:r>
            <a:endParaRPr lang="en-US">
              <a:ea typeface="+mj-lt"/>
              <a:cs typeface="+mj-lt"/>
            </a:endParaRPr>
          </a:p>
        </p:txBody>
      </p:sp>
      <p:pic>
        <p:nvPicPr>
          <p:cNvPr id="4" name="Content Placeholder 3" descr="A graph of different colored bars&#10;&#10;AI-generated content may be incorrect.">
            <a:extLst>
              <a:ext uri="{FF2B5EF4-FFF2-40B4-BE49-F238E27FC236}">
                <a16:creationId xmlns:a16="http://schemas.microsoft.com/office/drawing/2014/main" id="{2AB68035-8C2F-C988-9F56-CA701FD66852}"/>
              </a:ext>
            </a:extLst>
          </p:cNvPr>
          <p:cNvPicPr>
            <a:picLocks noGrp="1" noChangeAspect="1"/>
          </p:cNvPicPr>
          <p:nvPr>
            <p:ph idx="1"/>
          </p:nvPr>
        </p:nvPicPr>
        <p:blipFill>
          <a:blip r:embed="rId2"/>
          <a:stretch>
            <a:fillRect/>
          </a:stretch>
        </p:blipFill>
        <p:spPr>
          <a:xfrm>
            <a:off x="5188064" y="1877817"/>
            <a:ext cx="7003735" cy="4163447"/>
          </a:xfrm>
          <a:prstGeom prst="rect">
            <a:avLst/>
          </a:prstGeom>
        </p:spPr>
      </p:pic>
      <p:sp>
        <p:nvSpPr>
          <p:cNvPr id="3" name="TextBox 2">
            <a:extLst>
              <a:ext uri="{FF2B5EF4-FFF2-40B4-BE49-F238E27FC236}">
                <a16:creationId xmlns:a16="http://schemas.microsoft.com/office/drawing/2014/main" id="{8FCD73D8-7741-9C2E-B844-83AE101BFCF1}"/>
              </a:ext>
            </a:extLst>
          </p:cNvPr>
          <p:cNvSpPr txBox="1"/>
          <p:nvPr/>
        </p:nvSpPr>
        <p:spPr>
          <a:xfrm>
            <a:off x="197044" y="2975287"/>
            <a:ext cx="47578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endParaRPr lang="en-US">
              <a:ea typeface="+mn-lt"/>
              <a:cs typeface="+mn-lt"/>
            </a:endParaRPr>
          </a:p>
          <a:p>
            <a:br>
              <a:rPr lang="en-US" b="1">
                <a:ea typeface="+mn-lt"/>
                <a:cs typeface="+mn-lt"/>
              </a:rPr>
            </a:br>
            <a:r>
              <a:rPr lang="en-US">
                <a:ea typeface="+mn-lt"/>
                <a:cs typeface="+mn-lt"/>
              </a:rPr>
              <a:t>By midline, several schools show stronger overall performance, indicating that improvement is visible not just at the aggregate group level but also at the school level. This supports the scalability of the intervention across multiple school contexts.</a:t>
            </a:r>
            <a:endParaRPr lang="en-US"/>
          </a:p>
        </p:txBody>
      </p:sp>
    </p:spTree>
    <p:extLst>
      <p:ext uri="{BB962C8B-B14F-4D97-AF65-F5344CB8AC3E}">
        <p14:creationId xmlns:p14="http://schemas.microsoft.com/office/powerpoint/2010/main" val="2333795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87627-D427-AC9F-170C-CD72218E35F1}"/>
              </a:ext>
            </a:extLst>
          </p:cNvPr>
          <p:cNvSpPr>
            <a:spLocks noGrp="1"/>
          </p:cNvSpPr>
          <p:nvPr>
            <p:ph type="title"/>
          </p:nvPr>
        </p:nvSpPr>
        <p:spPr/>
        <p:txBody>
          <a:bodyPr/>
          <a:lstStyle/>
          <a:p>
            <a:pPr algn="ctr"/>
            <a:r>
              <a:rPr lang="en-US" sz="4000">
                <a:ea typeface="+mj-lt"/>
                <a:cs typeface="+mj-lt"/>
              </a:rPr>
              <a:t>Performance Levels by Group (Baseline)</a:t>
            </a:r>
            <a:endParaRPr lang="en-US"/>
          </a:p>
          <a:p>
            <a:pPr algn="ctr"/>
            <a:endParaRPr lang="en-US" sz="4000"/>
          </a:p>
        </p:txBody>
      </p:sp>
      <p:sp>
        <p:nvSpPr>
          <p:cNvPr id="3" name="TextBox 2">
            <a:extLst>
              <a:ext uri="{FF2B5EF4-FFF2-40B4-BE49-F238E27FC236}">
                <a16:creationId xmlns:a16="http://schemas.microsoft.com/office/drawing/2014/main" id="{2CDC536E-0B3F-18EF-334C-CF82017E3C6D}"/>
              </a:ext>
            </a:extLst>
          </p:cNvPr>
          <p:cNvSpPr txBox="1"/>
          <p:nvPr/>
        </p:nvSpPr>
        <p:spPr>
          <a:xfrm>
            <a:off x="222218" y="3809314"/>
            <a:ext cx="524840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a:t>
            </a:r>
            <a:r>
              <a:rPr lang="en-US">
                <a:ea typeface="+mn-lt"/>
                <a:cs typeface="+mn-lt"/>
              </a:rPr>
              <a:t>:</a:t>
            </a:r>
          </a:p>
          <a:p>
            <a:endParaRPr lang="en-US">
              <a:ea typeface="+mn-lt"/>
              <a:cs typeface="+mn-lt"/>
            </a:endParaRPr>
          </a:p>
          <a:p>
            <a:r>
              <a:rPr lang="en-US">
                <a:ea typeface="+mn-lt"/>
                <a:cs typeface="+mn-lt"/>
              </a:rPr>
              <a:t>At baseline, the Treatment group had a larger concentration of students in the </a:t>
            </a:r>
            <a:r>
              <a:rPr lang="en-US" b="1">
                <a:ea typeface="+mn-lt"/>
                <a:cs typeface="+mn-lt"/>
              </a:rPr>
              <a:t>Below Basic</a:t>
            </a:r>
            <a:r>
              <a:rPr lang="en-US">
                <a:ea typeface="+mn-lt"/>
                <a:cs typeface="+mn-lt"/>
              </a:rPr>
              <a:t> category and a smaller share in </a:t>
            </a:r>
            <a:r>
              <a:rPr lang="en-US" b="1">
                <a:ea typeface="+mn-lt"/>
                <a:cs typeface="+mn-lt"/>
              </a:rPr>
              <a:t>Proficient</a:t>
            </a:r>
            <a:r>
              <a:rPr lang="en-US">
                <a:ea typeface="+mn-lt"/>
                <a:cs typeface="+mn-lt"/>
              </a:rPr>
              <a:t> compared to Control. This confirms that the intervention group started from a weaker learning base.</a:t>
            </a:r>
          </a:p>
        </p:txBody>
      </p:sp>
      <p:sp>
        <p:nvSpPr>
          <p:cNvPr id="6" name="TextBox 5">
            <a:extLst>
              <a:ext uri="{FF2B5EF4-FFF2-40B4-BE49-F238E27FC236}">
                <a16:creationId xmlns:a16="http://schemas.microsoft.com/office/drawing/2014/main" id="{0E5389D8-9BE9-A09C-69A6-E96AB6F62E9F}"/>
              </a:ext>
            </a:extLst>
          </p:cNvPr>
          <p:cNvSpPr txBox="1"/>
          <p:nvPr/>
        </p:nvSpPr>
        <p:spPr>
          <a:xfrm>
            <a:off x="224690" y="2226145"/>
            <a:ext cx="468472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Below Basic:</a:t>
            </a:r>
            <a:r>
              <a:rPr lang="en-US">
                <a:ea typeface="+mn-lt"/>
                <a:cs typeface="+mn-lt"/>
              </a:rPr>
              <a:t> 0% – 33%  </a:t>
            </a:r>
            <a:endParaRPr lang="en-US"/>
          </a:p>
          <a:p>
            <a:r>
              <a:rPr lang="en-US" b="1">
                <a:ea typeface="+mn-lt"/>
                <a:cs typeface="+mn-lt"/>
              </a:rPr>
              <a:t>Basic:</a:t>
            </a:r>
            <a:r>
              <a:rPr lang="en-US">
                <a:ea typeface="+mn-lt"/>
                <a:cs typeface="+mn-lt"/>
              </a:rPr>
              <a:t> 34% – 66%  </a:t>
            </a:r>
            <a:endParaRPr lang="en-US"/>
          </a:p>
          <a:p>
            <a:r>
              <a:rPr lang="en-US" b="1">
                <a:ea typeface="+mn-lt"/>
                <a:cs typeface="+mn-lt"/>
              </a:rPr>
              <a:t>Proficient:</a:t>
            </a:r>
            <a:r>
              <a:rPr lang="en-US">
                <a:ea typeface="+mn-lt"/>
                <a:cs typeface="+mn-lt"/>
              </a:rPr>
              <a:t> 67% – 100%</a:t>
            </a:r>
            <a:endParaRPr lang="en-US"/>
          </a:p>
          <a:p>
            <a:endParaRPr lang="en-US"/>
          </a:p>
        </p:txBody>
      </p:sp>
      <p:pic>
        <p:nvPicPr>
          <p:cNvPr id="8" name="Content Placeholder 7">
            <a:extLst>
              <a:ext uri="{FF2B5EF4-FFF2-40B4-BE49-F238E27FC236}">
                <a16:creationId xmlns:a16="http://schemas.microsoft.com/office/drawing/2014/main" id="{ECA9EB33-33EF-5BD2-2DFD-E1860882A712}"/>
              </a:ext>
            </a:extLst>
          </p:cNvPr>
          <p:cNvPicPr>
            <a:picLocks noGrp="1" noChangeAspect="1"/>
          </p:cNvPicPr>
          <p:nvPr>
            <p:ph idx="1"/>
          </p:nvPr>
        </p:nvPicPr>
        <p:blipFill>
          <a:blip r:embed="rId2"/>
          <a:stretch>
            <a:fillRect/>
          </a:stretch>
        </p:blipFill>
        <p:spPr>
          <a:xfrm>
            <a:off x="5654137" y="1721242"/>
            <a:ext cx="6541313" cy="4205201"/>
          </a:xfrm>
          <a:prstGeom prst="rect">
            <a:avLst/>
          </a:prstGeom>
        </p:spPr>
      </p:pic>
    </p:spTree>
    <p:extLst>
      <p:ext uri="{BB962C8B-B14F-4D97-AF65-F5344CB8AC3E}">
        <p14:creationId xmlns:p14="http://schemas.microsoft.com/office/powerpoint/2010/main" val="118110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D7752-E18F-4EE8-C6EC-86F088935DE2}"/>
              </a:ext>
            </a:extLst>
          </p:cNvPr>
          <p:cNvSpPr>
            <a:spLocks noGrp="1"/>
          </p:cNvSpPr>
          <p:nvPr>
            <p:ph type="title"/>
          </p:nvPr>
        </p:nvSpPr>
        <p:spPr>
          <a:xfrm>
            <a:off x="838200" y="365125"/>
            <a:ext cx="10515600" cy="897591"/>
          </a:xfrm>
        </p:spPr>
        <p:txBody>
          <a:bodyPr>
            <a:normAutofit/>
          </a:bodyPr>
          <a:lstStyle/>
          <a:p>
            <a:pPr algn="ctr"/>
            <a:r>
              <a:rPr lang="en-US" sz="3600">
                <a:ea typeface="+mj-lt"/>
                <a:cs typeface="+mj-lt"/>
              </a:rPr>
              <a:t>Performance Levels by Group (Midline)</a:t>
            </a:r>
            <a:endParaRPr lang="en-US"/>
          </a:p>
        </p:txBody>
      </p:sp>
      <p:sp>
        <p:nvSpPr>
          <p:cNvPr id="7" name="TextBox 6">
            <a:extLst>
              <a:ext uri="{FF2B5EF4-FFF2-40B4-BE49-F238E27FC236}">
                <a16:creationId xmlns:a16="http://schemas.microsoft.com/office/drawing/2014/main" id="{8ABA6FFA-1459-0B20-8346-FB5B28889C5F}"/>
              </a:ext>
            </a:extLst>
          </p:cNvPr>
          <p:cNvSpPr txBox="1"/>
          <p:nvPr/>
        </p:nvSpPr>
        <p:spPr>
          <a:xfrm>
            <a:off x="187539" y="3787554"/>
            <a:ext cx="539454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Insight:</a:t>
            </a:r>
          </a:p>
          <a:p>
            <a:endParaRPr lang="en-US" b="1">
              <a:ea typeface="+mn-lt"/>
              <a:cs typeface="+mn-lt"/>
            </a:endParaRPr>
          </a:p>
          <a:p>
            <a:r>
              <a:rPr lang="en-US">
                <a:ea typeface="+mn-lt"/>
                <a:cs typeface="+mn-lt"/>
              </a:rPr>
              <a:t>By midline, the Treatment group shows a stronger movement into the </a:t>
            </a:r>
            <a:r>
              <a:rPr lang="en-US" b="1">
                <a:ea typeface="+mn-lt"/>
                <a:cs typeface="+mn-lt"/>
              </a:rPr>
              <a:t>Basic</a:t>
            </a:r>
            <a:r>
              <a:rPr lang="en-US">
                <a:ea typeface="+mn-lt"/>
                <a:cs typeface="+mn-lt"/>
              </a:rPr>
              <a:t> and </a:t>
            </a:r>
            <a:r>
              <a:rPr lang="en-US" b="1">
                <a:ea typeface="+mn-lt"/>
                <a:cs typeface="+mn-lt"/>
              </a:rPr>
              <a:t>Proficient</a:t>
            </a:r>
            <a:r>
              <a:rPr lang="en-US">
                <a:ea typeface="+mn-lt"/>
                <a:cs typeface="+mn-lt"/>
              </a:rPr>
              <a:t> categories, indicating improvement not just in average scores but also in the overall distribution of student performance levels.</a:t>
            </a:r>
            <a:endParaRPr lang="en-US"/>
          </a:p>
        </p:txBody>
      </p:sp>
      <p:sp>
        <p:nvSpPr>
          <p:cNvPr id="4" name="TextBox 3">
            <a:extLst>
              <a:ext uri="{FF2B5EF4-FFF2-40B4-BE49-F238E27FC236}">
                <a16:creationId xmlns:a16="http://schemas.microsoft.com/office/drawing/2014/main" id="{1C7DFFE0-7CCE-894D-052C-049B20122D59}"/>
              </a:ext>
            </a:extLst>
          </p:cNvPr>
          <p:cNvSpPr txBox="1"/>
          <p:nvPr/>
        </p:nvSpPr>
        <p:spPr>
          <a:xfrm>
            <a:off x="293946" y="2461346"/>
            <a:ext cx="453859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Below Basic:</a:t>
            </a:r>
            <a:r>
              <a:rPr lang="en-US">
                <a:ea typeface="+mn-lt"/>
                <a:cs typeface="+mn-lt"/>
              </a:rPr>
              <a:t> 0% – 33%  </a:t>
            </a:r>
            <a:endParaRPr lang="en-US"/>
          </a:p>
          <a:p>
            <a:r>
              <a:rPr lang="en-US" b="1">
                <a:ea typeface="+mn-lt"/>
                <a:cs typeface="+mn-lt"/>
              </a:rPr>
              <a:t>Basic:</a:t>
            </a:r>
            <a:r>
              <a:rPr lang="en-US">
                <a:ea typeface="+mn-lt"/>
                <a:cs typeface="+mn-lt"/>
              </a:rPr>
              <a:t> 34% – 66%  </a:t>
            </a:r>
            <a:endParaRPr lang="en-US"/>
          </a:p>
          <a:p>
            <a:r>
              <a:rPr lang="en-US" b="1">
                <a:ea typeface="+mn-lt"/>
                <a:cs typeface="+mn-lt"/>
              </a:rPr>
              <a:t>Proficient:</a:t>
            </a:r>
            <a:r>
              <a:rPr lang="en-US">
                <a:ea typeface="+mn-lt"/>
                <a:cs typeface="+mn-lt"/>
              </a:rPr>
              <a:t> 67% – 100%</a:t>
            </a:r>
          </a:p>
          <a:p>
            <a:endParaRPr lang="en-US">
              <a:ea typeface="+mn-lt"/>
              <a:cs typeface="+mn-lt"/>
            </a:endParaRPr>
          </a:p>
          <a:p>
            <a:endParaRPr lang="en-US"/>
          </a:p>
        </p:txBody>
      </p:sp>
      <p:pic>
        <p:nvPicPr>
          <p:cNvPr id="8" name="Content Placeholder 7" descr="A graph with different colored squares&#10;&#10;AI-generated content may be incorrect.">
            <a:extLst>
              <a:ext uri="{FF2B5EF4-FFF2-40B4-BE49-F238E27FC236}">
                <a16:creationId xmlns:a16="http://schemas.microsoft.com/office/drawing/2014/main" id="{53087D93-10A9-4FDF-3709-6752CD66E892}"/>
              </a:ext>
            </a:extLst>
          </p:cNvPr>
          <p:cNvPicPr>
            <a:picLocks noGrp="1" noChangeAspect="1"/>
          </p:cNvPicPr>
          <p:nvPr>
            <p:ph idx="1"/>
          </p:nvPr>
        </p:nvPicPr>
        <p:blipFill>
          <a:blip r:embed="rId2"/>
          <a:stretch>
            <a:fillRect/>
          </a:stretch>
        </p:blipFill>
        <p:spPr>
          <a:xfrm>
            <a:off x="5975663" y="1898693"/>
            <a:ext cx="6211414" cy="4059065"/>
          </a:xfrm>
          <a:prstGeom prst="rect">
            <a:avLst/>
          </a:prstGeom>
        </p:spPr>
      </p:pic>
    </p:spTree>
    <p:extLst>
      <p:ext uri="{BB962C8B-B14F-4D97-AF65-F5344CB8AC3E}">
        <p14:creationId xmlns:p14="http://schemas.microsoft.com/office/powerpoint/2010/main" val="2908861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CA747-485B-7336-B594-888D40A72CCD}"/>
              </a:ext>
            </a:extLst>
          </p:cNvPr>
          <p:cNvSpPr>
            <a:spLocks noGrp="1"/>
          </p:cNvSpPr>
          <p:nvPr>
            <p:ph type="title"/>
          </p:nvPr>
        </p:nvSpPr>
        <p:spPr/>
        <p:txBody>
          <a:bodyPr/>
          <a:lstStyle/>
          <a:p>
            <a:pPr algn="ctr"/>
            <a:r>
              <a:rPr lang="en-US">
                <a:ea typeface="+mj-lt"/>
                <a:cs typeface="+mj-lt"/>
              </a:rPr>
              <a:t>Gender-wise Performance Analysis</a:t>
            </a:r>
            <a:endParaRPr lang="en-US"/>
          </a:p>
        </p:txBody>
      </p:sp>
      <p:sp>
        <p:nvSpPr>
          <p:cNvPr id="5" name="TextBox 4">
            <a:extLst>
              <a:ext uri="{FF2B5EF4-FFF2-40B4-BE49-F238E27FC236}">
                <a16:creationId xmlns:a16="http://schemas.microsoft.com/office/drawing/2014/main" id="{3C027211-015E-454B-FE29-435ED0572CD0}"/>
              </a:ext>
            </a:extLst>
          </p:cNvPr>
          <p:cNvSpPr txBox="1"/>
          <p:nvPr/>
        </p:nvSpPr>
        <p:spPr>
          <a:xfrm>
            <a:off x="268749" y="1878959"/>
            <a:ext cx="377659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Female (Baseline):</a:t>
            </a:r>
            <a:r>
              <a:rPr lang="en-US">
                <a:ea typeface="+mn-lt"/>
                <a:cs typeface="+mn-lt"/>
              </a:rPr>
              <a:t>  40.1% → 62.2% </a:t>
            </a:r>
            <a:endParaRPr lang="en-US"/>
          </a:p>
          <a:p>
            <a:r>
              <a:rPr lang="en-US" b="1">
                <a:ea typeface="+mn-lt"/>
                <a:cs typeface="+mn-lt"/>
              </a:rPr>
              <a:t>Male (Baseline):</a:t>
            </a:r>
            <a:r>
              <a:rPr lang="en-US">
                <a:ea typeface="+mn-lt"/>
                <a:cs typeface="+mn-lt"/>
              </a:rPr>
              <a:t>  38.3% → 53.8% </a:t>
            </a:r>
            <a:endParaRPr lang="en-US"/>
          </a:p>
          <a:p>
            <a:pPr algn="l"/>
            <a:endParaRPr lang="en-US"/>
          </a:p>
        </p:txBody>
      </p:sp>
      <p:sp>
        <p:nvSpPr>
          <p:cNvPr id="6" name="TextBox 5">
            <a:extLst>
              <a:ext uri="{FF2B5EF4-FFF2-40B4-BE49-F238E27FC236}">
                <a16:creationId xmlns:a16="http://schemas.microsoft.com/office/drawing/2014/main" id="{E3DE885B-BDD6-AF6F-B600-A1F3A289690D}"/>
              </a:ext>
            </a:extLst>
          </p:cNvPr>
          <p:cNvSpPr txBox="1"/>
          <p:nvPr/>
        </p:nvSpPr>
        <p:spPr>
          <a:xfrm>
            <a:off x="272420" y="3052974"/>
            <a:ext cx="566593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Insights:</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Both male and female students showed strong improvement.</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Female students demonstrated slightly higher performance and gains; however, overall improvement is consistent across genders, indicating that the intervention is broadly effective.</a:t>
            </a:r>
          </a:p>
          <a:p>
            <a:pPr marL="285750" indent="-285750">
              <a:buFont typeface="Arial"/>
              <a:buChar char="•"/>
            </a:pPr>
            <a:endParaRPr lang="en-US"/>
          </a:p>
          <a:p>
            <a:pPr marL="285750" indent="-285750">
              <a:buFont typeface="Arial"/>
              <a:buChar char="•"/>
            </a:pPr>
            <a:endParaRPr lang="en-US"/>
          </a:p>
        </p:txBody>
      </p:sp>
      <p:pic>
        <p:nvPicPr>
          <p:cNvPr id="8" name="Content Placeholder 7">
            <a:extLst>
              <a:ext uri="{FF2B5EF4-FFF2-40B4-BE49-F238E27FC236}">
                <a16:creationId xmlns:a16="http://schemas.microsoft.com/office/drawing/2014/main" id="{6C7E6C0A-F194-ACCA-A245-6DEA3038CE64}"/>
              </a:ext>
            </a:extLst>
          </p:cNvPr>
          <p:cNvPicPr>
            <a:picLocks noGrp="1" noChangeAspect="1"/>
          </p:cNvPicPr>
          <p:nvPr>
            <p:ph idx="1"/>
          </p:nvPr>
        </p:nvPicPr>
        <p:blipFill>
          <a:blip r:embed="rId2"/>
          <a:stretch>
            <a:fillRect/>
          </a:stretch>
        </p:blipFill>
        <p:spPr>
          <a:xfrm>
            <a:off x="6105577" y="1595981"/>
            <a:ext cx="6087283" cy="4643611"/>
          </a:xfrm>
          <a:prstGeom prst="rect">
            <a:avLst/>
          </a:prstGeom>
        </p:spPr>
      </p:pic>
    </p:spTree>
    <p:extLst>
      <p:ext uri="{BB962C8B-B14F-4D97-AF65-F5344CB8AC3E}">
        <p14:creationId xmlns:p14="http://schemas.microsoft.com/office/powerpoint/2010/main" val="2995592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6EA02-D356-EEC0-F843-E51AA4B3C99E}"/>
              </a:ext>
            </a:extLst>
          </p:cNvPr>
          <p:cNvSpPr>
            <a:spLocks noGrp="1"/>
          </p:cNvSpPr>
          <p:nvPr>
            <p:ph type="title"/>
          </p:nvPr>
        </p:nvSpPr>
        <p:spPr/>
        <p:txBody>
          <a:bodyPr/>
          <a:lstStyle/>
          <a:p>
            <a:pPr algn="ctr"/>
            <a:r>
              <a:rPr lang="en-US">
                <a:ea typeface="+mj-lt"/>
                <a:cs typeface="+mj-lt"/>
              </a:rPr>
              <a:t>Strength of Overall Improvement</a:t>
            </a:r>
            <a:endParaRPr lang="en-US"/>
          </a:p>
        </p:txBody>
      </p:sp>
      <p:sp>
        <p:nvSpPr>
          <p:cNvPr id="3" name="Content Placeholder 2">
            <a:extLst>
              <a:ext uri="{FF2B5EF4-FFF2-40B4-BE49-F238E27FC236}">
                <a16:creationId xmlns:a16="http://schemas.microsoft.com/office/drawing/2014/main" id="{4F7542EC-8180-D28F-51B3-E73043A32018}"/>
              </a:ext>
            </a:extLst>
          </p:cNvPr>
          <p:cNvSpPr>
            <a:spLocks noGrp="1"/>
          </p:cNvSpPr>
          <p:nvPr>
            <p:ph idx="1"/>
          </p:nvPr>
        </p:nvSpPr>
        <p:spPr/>
        <p:txBody>
          <a:bodyPr vert="horz" lIns="91440" tIns="45720" rIns="91440" bIns="45720" rtlCol="0" anchor="t">
            <a:normAutofit/>
          </a:bodyPr>
          <a:lstStyle/>
          <a:p>
            <a:pPr marL="0" indent="0">
              <a:buNone/>
            </a:pPr>
            <a:r>
              <a:rPr lang="en-US" sz="2400">
                <a:ea typeface="+mn-lt"/>
                <a:cs typeface="+mn-lt"/>
              </a:rPr>
              <a:t>Effect Size (Cohen’s d): </a:t>
            </a:r>
            <a:r>
              <a:rPr lang="en-US" sz="2400" b="1">
                <a:ea typeface="+mn-lt"/>
                <a:cs typeface="+mn-lt"/>
              </a:rPr>
              <a:t>0.92</a:t>
            </a:r>
            <a:endParaRPr lang="en-US" sz="2400" b="1"/>
          </a:p>
          <a:p>
            <a:endParaRPr lang="en-US" sz="2400"/>
          </a:p>
          <a:p>
            <a:pPr marL="0" indent="0">
              <a:buNone/>
            </a:pPr>
            <a:r>
              <a:rPr lang="en-US" sz="2400" b="1">
                <a:ea typeface="+mn-lt"/>
                <a:cs typeface="+mn-lt"/>
              </a:rPr>
              <a:t>Key Insight:</a:t>
            </a:r>
            <a:endParaRPr lang="en-US" sz="2400" b="1"/>
          </a:p>
          <a:p>
            <a:endParaRPr lang="en-US" sz="2400"/>
          </a:p>
          <a:p>
            <a:r>
              <a:rPr lang="en-US" sz="2400">
                <a:ea typeface="+mn-lt"/>
                <a:cs typeface="+mn-lt"/>
              </a:rPr>
              <a:t>The improvement from baseline to midline is not only statistically significant but also practically strong.</a:t>
            </a:r>
            <a:endParaRPr lang="en-US" sz="2400"/>
          </a:p>
          <a:p>
            <a:endParaRPr lang="en-US" sz="2400"/>
          </a:p>
          <a:p>
            <a:r>
              <a:rPr lang="en-US" sz="2400">
                <a:ea typeface="+mn-lt"/>
                <a:cs typeface="+mn-lt"/>
              </a:rPr>
              <a:t>An effect size of 0.92 indicates a large and meaningful shift in student performance, demonstrating that the observed gains are substantial and impactful at the population level.</a:t>
            </a:r>
            <a:endParaRPr lang="en-US" sz="2400"/>
          </a:p>
        </p:txBody>
      </p:sp>
    </p:spTree>
    <p:extLst>
      <p:ext uri="{BB962C8B-B14F-4D97-AF65-F5344CB8AC3E}">
        <p14:creationId xmlns:p14="http://schemas.microsoft.com/office/powerpoint/2010/main" val="2767479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0861-BC0E-1EE2-3ABA-B922C46AAC0F}"/>
              </a:ext>
            </a:extLst>
          </p:cNvPr>
          <p:cNvSpPr>
            <a:spLocks noGrp="1"/>
          </p:cNvSpPr>
          <p:nvPr>
            <p:ph type="title"/>
          </p:nvPr>
        </p:nvSpPr>
        <p:spPr/>
        <p:txBody>
          <a:bodyPr/>
          <a:lstStyle/>
          <a:p>
            <a:pPr algn="ctr"/>
            <a:r>
              <a:rPr lang="en-US">
                <a:ea typeface="+mj-lt"/>
                <a:cs typeface="+mj-lt"/>
              </a:rPr>
              <a:t>T-Test (Baseline vs Midline)</a:t>
            </a:r>
            <a:endParaRPr lang="en-US"/>
          </a:p>
        </p:txBody>
      </p:sp>
      <p:sp>
        <p:nvSpPr>
          <p:cNvPr id="3" name="Content Placeholder 2">
            <a:extLst>
              <a:ext uri="{FF2B5EF4-FFF2-40B4-BE49-F238E27FC236}">
                <a16:creationId xmlns:a16="http://schemas.microsoft.com/office/drawing/2014/main" id="{98984A08-5703-1449-980C-D4F9698DA76F}"/>
              </a:ext>
            </a:extLst>
          </p:cNvPr>
          <p:cNvSpPr>
            <a:spLocks noGrp="1"/>
          </p:cNvSpPr>
          <p:nvPr>
            <p:ph idx="1"/>
          </p:nvPr>
        </p:nvSpPr>
        <p:spPr/>
        <p:txBody>
          <a:bodyPr vert="horz" lIns="91440" tIns="45720" rIns="91440" bIns="45720" rtlCol="0" anchor="t">
            <a:normAutofit/>
          </a:bodyPr>
          <a:lstStyle/>
          <a:p>
            <a:pPr marL="0" indent="0">
              <a:buNone/>
            </a:pPr>
            <a:r>
              <a:rPr lang="en-US" sz="2400" b="1">
                <a:ea typeface="+mn-lt"/>
                <a:cs typeface="+mn-lt"/>
              </a:rPr>
              <a:t>T-statistic:</a:t>
            </a:r>
            <a:r>
              <a:rPr lang="en-US" sz="2400">
                <a:ea typeface="+mn-lt"/>
                <a:cs typeface="+mn-lt"/>
              </a:rPr>
              <a:t> 11.998  </a:t>
            </a:r>
            <a:endParaRPr lang="en-US" sz="2400"/>
          </a:p>
          <a:p>
            <a:pPr marL="0" indent="0">
              <a:buNone/>
            </a:pPr>
            <a:r>
              <a:rPr lang="en-US" sz="2400" b="1">
                <a:ea typeface="+mn-lt"/>
                <a:cs typeface="+mn-lt"/>
              </a:rPr>
              <a:t>P-value:</a:t>
            </a:r>
            <a:r>
              <a:rPr lang="en-US" sz="2400">
                <a:ea typeface="+mn-lt"/>
                <a:cs typeface="+mn-lt"/>
              </a:rPr>
              <a:t> &lt; 0.001  </a:t>
            </a:r>
            <a:endParaRPr lang="en-US" sz="2400"/>
          </a:p>
          <a:p>
            <a:endParaRPr lang="en-US" sz="2400"/>
          </a:p>
          <a:p>
            <a:pPr marL="0" indent="0">
              <a:buNone/>
            </a:pPr>
            <a:r>
              <a:rPr lang="en-US" sz="2400" b="1">
                <a:ea typeface="+mn-lt"/>
                <a:cs typeface="+mn-lt"/>
              </a:rPr>
              <a:t>Key Insight:</a:t>
            </a:r>
            <a:endParaRPr lang="en-US" sz="2400" b="1"/>
          </a:p>
          <a:p>
            <a:pPr marL="0" indent="0">
              <a:buNone/>
            </a:pPr>
            <a:r>
              <a:rPr lang="en-US" sz="2400">
                <a:ea typeface="+mn-lt"/>
                <a:cs typeface="+mn-lt"/>
              </a:rPr>
              <a:t>The difference between baseline and midline performance is highly statistically significant, confirming that the observed improvement is extremely unlikely to be due to chance.</a:t>
            </a:r>
            <a:endParaRPr lang="en-US">
              <a:ea typeface="+mn-lt"/>
              <a:cs typeface="+mn-lt"/>
            </a:endParaRPr>
          </a:p>
        </p:txBody>
      </p:sp>
    </p:spTree>
    <p:extLst>
      <p:ext uri="{BB962C8B-B14F-4D97-AF65-F5344CB8AC3E}">
        <p14:creationId xmlns:p14="http://schemas.microsoft.com/office/powerpoint/2010/main" val="2229328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F08D2-A24D-AED5-092A-A72144C9F31E}"/>
              </a:ext>
            </a:extLst>
          </p:cNvPr>
          <p:cNvSpPr>
            <a:spLocks noGrp="1"/>
          </p:cNvSpPr>
          <p:nvPr>
            <p:ph type="title"/>
          </p:nvPr>
        </p:nvSpPr>
        <p:spPr/>
        <p:txBody>
          <a:bodyPr/>
          <a:lstStyle/>
          <a:p>
            <a:pPr algn="ctr"/>
            <a:r>
              <a:rPr lang="en-US">
                <a:ea typeface="+mj-lt"/>
                <a:cs typeface="+mj-lt"/>
              </a:rPr>
              <a:t>T-Test (Control vs Treatment)</a:t>
            </a:r>
            <a:endParaRPr lang="en-US"/>
          </a:p>
        </p:txBody>
      </p:sp>
      <p:sp>
        <p:nvSpPr>
          <p:cNvPr id="3" name="Content Placeholder 2">
            <a:extLst>
              <a:ext uri="{FF2B5EF4-FFF2-40B4-BE49-F238E27FC236}">
                <a16:creationId xmlns:a16="http://schemas.microsoft.com/office/drawing/2014/main" id="{152A56A3-BBFB-7E5D-5C2C-2A294A817076}"/>
              </a:ext>
            </a:extLst>
          </p:cNvPr>
          <p:cNvSpPr>
            <a:spLocks noGrp="1"/>
          </p:cNvSpPr>
          <p:nvPr>
            <p:ph idx="1"/>
          </p:nvPr>
        </p:nvSpPr>
        <p:spPr/>
        <p:txBody>
          <a:bodyPr vert="horz" lIns="91440" tIns="45720" rIns="91440" bIns="45720" rtlCol="0" anchor="t">
            <a:normAutofit/>
          </a:bodyPr>
          <a:lstStyle/>
          <a:p>
            <a:pPr marL="0" indent="0">
              <a:buNone/>
            </a:pPr>
            <a:r>
              <a:rPr lang="en-US" b="1">
                <a:ea typeface="+mn-lt"/>
                <a:cs typeface="+mn-lt"/>
              </a:rPr>
              <a:t>T-statistic:</a:t>
            </a:r>
            <a:r>
              <a:rPr lang="en-US">
                <a:ea typeface="+mn-lt"/>
                <a:cs typeface="+mn-lt"/>
              </a:rPr>
              <a:t> 2.29  </a:t>
            </a:r>
            <a:endParaRPr lang="en-US"/>
          </a:p>
          <a:p>
            <a:pPr marL="0" indent="0">
              <a:buNone/>
            </a:pPr>
            <a:r>
              <a:rPr lang="en-US" b="1">
                <a:ea typeface="+mn-lt"/>
                <a:cs typeface="+mn-lt"/>
              </a:rPr>
              <a:t>P-value:</a:t>
            </a:r>
            <a:r>
              <a:rPr lang="en-US">
                <a:ea typeface="+mn-lt"/>
                <a:cs typeface="+mn-lt"/>
              </a:rPr>
              <a:t> 0.023  </a:t>
            </a:r>
            <a:endParaRPr lang="en-US"/>
          </a:p>
          <a:p>
            <a:endParaRPr lang="en-US"/>
          </a:p>
          <a:p>
            <a:pPr marL="0" indent="0">
              <a:buNone/>
            </a:pPr>
            <a:r>
              <a:rPr lang="en-US" b="1">
                <a:ea typeface="+mn-lt"/>
                <a:cs typeface="+mn-lt"/>
              </a:rPr>
              <a:t>Key Insight</a:t>
            </a:r>
            <a:r>
              <a:rPr lang="en-US">
                <a:ea typeface="+mn-lt"/>
                <a:cs typeface="+mn-lt"/>
              </a:rPr>
              <a:t>:</a:t>
            </a:r>
            <a:endParaRPr lang="en-US"/>
          </a:p>
          <a:p>
            <a:pPr marL="0" indent="0">
              <a:buNone/>
            </a:pPr>
            <a:r>
              <a:rPr lang="en-US">
                <a:ea typeface="+mn-lt"/>
                <a:cs typeface="+mn-lt"/>
              </a:rPr>
              <a:t>There is a statistically significant difference between Control and Treatment groups at midline, with the Treatment group performing better overall.</a:t>
            </a:r>
          </a:p>
        </p:txBody>
      </p:sp>
    </p:spTree>
    <p:extLst>
      <p:ext uri="{BB962C8B-B14F-4D97-AF65-F5344CB8AC3E}">
        <p14:creationId xmlns:p14="http://schemas.microsoft.com/office/powerpoint/2010/main" val="4201808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F61D-24FD-E48A-D8CB-D3E1F7972911}"/>
              </a:ext>
            </a:extLst>
          </p:cNvPr>
          <p:cNvSpPr>
            <a:spLocks noGrp="1"/>
          </p:cNvSpPr>
          <p:nvPr>
            <p:ph type="title"/>
          </p:nvPr>
        </p:nvSpPr>
        <p:spPr/>
        <p:txBody>
          <a:bodyPr/>
          <a:lstStyle/>
          <a:p>
            <a:pPr algn="ctr"/>
            <a:r>
              <a:rPr lang="en-US">
                <a:ea typeface="+mj-lt"/>
                <a:cs typeface="+mj-lt"/>
              </a:rPr>
              <a:t>Chi-Square Test (Distribution)</a:t>
            </a:r>
            <a:endParaRPr lang="en-US"/>
          </a:p>
        </p:txBody>
      </p:sp>
      <p:sp>
        <p:nvSpPr>
          <p:cNvPr id="3" name="Content Placeholder 2">
            <a:extLst>
              <a:ext uri="{FF2B5EF4-FFF2-40B4-BE49-F238E27FC236}">
                <a16:creationId xmlns:a16="http://schemas.microsoft.com/office/drawing/2014/main" id="{52805D77-0728-706E-DA30-8826FAFBE0BE}"/>
              </a:ext>
            </a:extLst>
          </p:cNvPr>
          <p:cNvSpPr>
            <a:spLocks noGrp="1"/>
          </p:cNvSpPr>
          <p:nvPr>
            <p:ph idx="1"/>
          </p:nvPr>
        </p:nvSpPr>
        <p:spPr>
          <a:xfrm>
            <a:off x="838200" y="1992639"/>
            <a:ext cx="10515600" cy="4351338"/>
          </a:xfrm>
        </p:spPr>
        <p:txBody>
          <a:bodyPr vert="horz" lIns="91440" tIns="45720" rIns="91440" bIns="45720" rtlCol="0" anchor="t">
            <a:normAutofit/>
          </a:bodyPr>
          <a:lstStyle/>
          <a:p>
            <a:pPr marL="0" indent="0">
              <a:buNone/>
            </a:pPr>
            <a:r>
              <a:rPr lang="en-US" b="1">
                <a:ea typeface="+mn-lt"/>
                <a:cs typeface="+mn-lt"/>
              </a:rPr>
              <a:t>Chi-square:</a:t>
            </a:r>
            <a:r>
              <a:rPr lang="en-US">
                <a:ea typeface="+mn-lt"/>
                <a:cs typeface="+mn-lt"/>
              </a:rPr>
              <a:t> 13.00  </a:t>
            </a:r>
            <a:endParaRPr lang="en-US"/>
          </a:p>
          <a:p>
            <a:pPr marL="0" indent="0">
              <a:buNone/>
            </a:pPr>
            <a:r>
              <a:rPr lang="en-US" b="1">
                <a:ea typeface="+mn-lt"/>
                <a:cs typeface="+mn-lt"/>
              </a:rPr>
              <a:t>P-value:</a:t>
            </a:r>
            <a:r>
              <a:rPr lang="en-US">
                <a:ea typeface="+mn-lt"/>
                <a:cs typeface="+mn-lt"/>
              </a:rPr>
              <a:t> 0.0015  </a:t>
            </a:r>
            <a:endParaRPr lang="en-US"/>
          </a:p>
          <a:p>
            <a:endParaRPr lang="en-US"/>
          </a:p>
          <a:p>
            <a:pPr marL="0" indent="0">
              <a:buNone/>
            </a:pPr>
            <a:r>
              <a:rPr lang="en-US" b="1">
                <a:ea typeface="+mn-lt"/>
                <a:cs typeface="+mn-lt"/>
              </a:rPr>
              <a:t>Key Insight:</a:t>
            </a:r>
            <a:endParaRPr lang="en-US" b="1"/>
          </a:p>
          <a:p>
            <a:pPr marL="0" indent="0">
              <a:buNone/>
            </a:pPr>
            <a:r>
              <a:rPr lang="en-US">
                <a:ea typeface="+mn-lt"/>
                <a:cs typeface="+mn-lt"/>
              </a:rPr>
              <a:t>The distribution of students across performance levels differs significantly between Control and Treatment groups, indicating a meaningful shift in learning outcomes beyond average score differences.</a:t>
            </a:r>
          </a:p>
        </p:txBody>
      </p:sp>
    </p:spTree>
    <p:extLst>
      <p:ext uri="{BB962C8B-B14F-4D97-AF65-F5344CB8AC3E}">
        <p14:creationId xmlns:p14="http://schemas.microsoft.com/office/powerpoint/2010/main" val="3612830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EBE27-B79C-D50D-DFB7-3D3C4968E88F}"/>
              </a:ext>
            </a:extLst>
          </p:cNvPr>
          <p:cNvSpPr>
            <a:spLocks noGrp="1"/>
          </p:cNvSpPr>
          <p:nvPr>
            <p:ph type="title"/>
          </p:nvPr>
        </p:nvSpPr>
        <p:spPr/>
        <p:txBody>
          <a:bodyPr/>
          <a:lstStyle/>
          <a:p>
            <a:pPr algn="ctr"/>
            <a:r>
              <a:rPr lang="en-US">
                <a:ea typeface="+mj-lt"/>
                <a:cs typeface="+mj-lt"/>
              </a:rPr>
              <a:t>Correlation Insight(Midline)</a:t>
            </a:r>
            <a:endParaRPr lang="en-US"/>
          </a:p>
        </p:txBody>
      </p:sp>
      <p:sp>
        <p:nvSpPr>
          <p:cNvPr id="3" name="Content Placeholder 2">
            <a:extLst>
              <a:ext uri="{FF2B5EF4-FFF2-40B4-BE49-F238E27FC236}">
                <a16:creationId xmlns:a16="http://schemas.microsoft.com/office/drawing/2014/main" id="{52B0EFBA-1D6C-CD83-D840-D13D7B9227F7}"/>
              </a:ext>
            </a:extLst>
          </p:cNvPr>
          <p:cNvSpPr>
            <a:spLocks noGrp="1"/>
          </p:cNvSpPr>
          <p:nvPr>
            <p:ph idx="1"/>
          </p:nvPr>
        </p:nvSpPr>
        <p:spPr>
          <a:xfrm>
            <a:off x="232776" y="1825625"/>
            <a:ext cx="11569873" cy="5019392"/>
          </a:xfrm>
        </p:spPr>
        <p:txBody>
          <a:bodyPr vert="horz" lIns="91440" tIns="45720" rIns="91440" bIns="45720" rtlCol="0" anchor="t">
            <a:normAutofit/>
          </a:bodyPr>
          <a:lstStyle/>
          <a:p>
            <a:pPr>
              <a:buNone/>
            </a:pPr>
            <a:r>
              <a:rPr lang="en-US" sz="1800" b="1">
                <a:ea typeface="+mn-lt"/>
                <a:cs typeface="+mn-lt"/>
              </a:rPr>
              <a:t>Reading vs Writing: 0.61 </a:t>
            </a:r>
            <a:endParaRPr lang="en-US" sz="1800" b="1"/>
          </a:p>
          <a:p>
            <a:pPr>
              <a:buNone/>
            </a:pPr>
            <a:r>
              <a:rPr lang="en-US" sz="1800" b="1">
                <a:ea typeface="+mn-lt"/>
                <a:cs typeface="+mn-lt"/>
              </a:rPr>
              <a:t>Writing vs Numeracy: 0.58 </a:t>
            </a:r>
            <a:endParaRPr lang="en-US" sz="1800" b="1"/>
          </a:p>
          <a:p>
            <a:pPr>
              <a:buNone/>
            </a:pPr>
            <a:r>
              <a:rPr lang="en-US" sz="1800" b="1">
                <a:ea typeface="+mn-lt"/>
                <a:cs typeface="+mn-lt"/>
              </a:rPr>
              <a:t>Reading vs Numeracy: 0.52 </a:t>
            </a:r>
          </a:p>
          <a:p>
            <a:pPr marL="0" indent="0">
              <a:buNone/>
            </a:pPr>
            <a:r>
              <a:rPr lang="en-US" sz="1800" b="1">
                <a:ea typeface="+mn-lt"/>
                <a:cs typeface="+mn-lt"/>
              </a:rPr>
              <a:t>(All relationships statistically significant, p &lt; 0.001) </a:t>
            </a:r>
            <a:endParaRPr lang="en-US" sz="1800" b="1"/>
          </a:p>
          <a:p>
            <a:endParaRPr lang="en-US"/>
          </a:p>
          <a:p>
            <a:pPr marL="0" indent="0">
              <a:buNone/>
            </a:pPr>
            <a:r>
              <a:rPr lang="en-US" sz="2400" b="1">
                <a:ea typeface="+mn-lt"/>
                <a:cs typeface="+mn-lt"/>
              </a:rPr>
              <a:t>Key Insight:</a:t>
            </a:r>
            <a:endParaRPr lang="en-US" sz="2400" b="1"/>
          </a:p>
          <a:p>
            <a:r>
              <a:rPr lang="en-US" sz="1800">
                <a:ea typeface="+mn-lt"/>
                <a:cs typeface="+mn-lt"/>
              </a:rPr>
              <a:t>A strong relationship exists between Reading and Writing, indicating that literacy skills develop together.</a:t>
            </a:r>
            <a:endParaRPr lang="en-US" sz="1800"/>
          </a:p>
          <a:p>
            <a:pPr>
              <a:buNone/>
            </a:pPr>
            <a:r>
              <a:rPr lang="en-US" sz="1800">
                <a:ea typeface="+mn-lt"/>
                <a:cs typeface="+mn-lt"/>
              </a:rPr>
              <a:t>• Moderate to strong relationships are observed between literacy and numeracy, suggesting that students performing well in one domain tend to perform well in others.</a:t>
            </a:r>
            <a:endParaRPr lang="en-US" sz="1800"/>
          </a:p>
          <a:p>
            <a:pPr>
              <a:buNone/>
            </a:pPr>
            <a:r>
              <a:rPr lang="en-US" sz="1800">
                <a:ea typeface="+mn-lt"/>
                <a:cs typeface="+mn-lt"/>
              </a:rPr>
              <a:t>• The highest correlation between Reading and Writing highlights the importance of strengthening foundational literacy skills.</a:t>
            </a:r>
            <a:endParaRPr lang="en-US" sz="1800"/>
          </a:p>
          <a:p>
            <a:pPr marL="0" indent="0">
              <a:buNone/>
            </a:pPr>
            <a:r>
              <a:rPr lang="en-US" sz="1800">
                <a:ea typeface="+mn-lt"/>
                <a:cs typeface="+mn-lt"/>
              </a:rPr>
              <a:t>• Overall, student performance shows consistency across subjects, reflecting interconnected learning abilities.</a:t>
            </a:r>
          </a:p>
        </p:txBody>
      </p:sp>
    </p:spTree>
    <p:extLst>
      <p:ext uri="{BB962C8B-B14F-4D97-AF65-F5344CB8AC3E}">
        <p14:creationId xmlns:p14="http://schemas.microsoft.com/office/powerpoint/2010/main" val="35772485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1B017-37E1-1ACC-E296-94D3346108A5}"/>
              </a:ext>
            </a:extLst>
          </p:cNvPr>
          <p:cNvSpPr>
            <a:spLocks noGrp="1"/>
          </p:cNvSpPr>
          <p:nvPr>
            <p:ph type="title"/>
          </p:nvPr>
        </p:nvSpPr>
        <p:spPr/>
        <p:txBody>
          <a:bodyPr/>
          <a:lstStyle/>
          <a:p>
            <a:pPr algn="ctr"/>
            <a:r>
              <a:rPr lang="en-US">
                <a:ea typeface="+mj-lt"/>
                <a:cs typeface="+mj-lt"/>
              </a:rPr>
              <a:t>Who Benefited the Most?</a:t>
            </a:r>
            <a:endParaRPr lang="en-US"/>
          </a:p>
        </p:txBody>
      </p:sp>
      <p:sp>
        <p:nvSpPr>
          <p:cNvPr id="24" name="TextBox 23">
            <a:extLst>
              <a:ext uri="{FF2B5EF4-FFF2-40B4-BE49-F238E27FC236}">
                <a16:creationId xmlns:a16="http://schemas.microsoft.com/office/drawing/2014/main" id="{E08FE6BA-AC43-3A70-011E-E016E1A55567}"/>
              </a:ext>
            </a:extLst>
          </p:cNvPr>
          <p:cNvSpPr txBox="1"/>
          <p:nvPr/>
        </p:nvSpPr>
        <p:spPr>
          <a:xfrm>
            <a:off x="-1760" y="3648493"/>
            <a:ext cx="638702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Insight</a:t>
            </a:r>
            <a:r>
              <a:rPr lang="en-US"/>
              <a:t>:</a:t>
            </a:r>
          </a:p>
          <a:p>
            <a:endParaRPr lang="en-US">
              <a:ea typeface="+mn-lt"/>
              <a:cs typeface="+mn-lt"/>
            </a:endParaRPr>
          </a:p>
          <a:p>
            <a:pPr marL="285750" indent="-285750">
              <a:buFont typeface="Arial"/>
              <a:buChar char="•"/>
            </a:pPr>
            <a:r>
              <a:rPr lang="en-US">
                <a:ea typeface="+mn-lt"/>
                <a:cs typeface="+mn-lt"/>
              </a:rPr>
              <a:t>Students who started in the </a:t>
            </a:r>
            <a:r>
              <a:rPr lang="en-US" b="1">
                <a:ea typeface="+mn-lt"/>
                <a:cs typeface="+mn-lt"/>
              </a:rPr>
              <a:t>Below Basic category showed the highest improvement (+27.3%)</a:t>
            </a:r>
            <a:r>
              <a:rPr lang="en-US">
                <a:ea typeface="+mn-lt"/>
                <a:cs typeface="+mn-lt"/>
              </a:rPr>
              <a:t>, followed by Basic learners (+21.3%), while gains among Proficient students were significantly lower (+4.0%).</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This indicates that the intervention was </a:t>
            </a:r>
            <a:r>
              <a:rPr lang="en-US" b="1">
                <a:ea typeface="+mn-lt"/>
                <a:cs typeface="+mn-lt"/>
              </a:rPr>
              <a:t>most effective for lower-performing students</a:t>
            </a:r>
            <a:r>
              <a:rPr lang="en-US">
                <a:ea typeface="+mn-lt"/>
                <a:cs typeface="+mn-lt"/>
              </a:rPr>
              <a:t>, helping them achieve substantial learning gains.</a:t>
            </a:r>
          </a:p>
        </p:txBody>
      </p:sp>
      <p:pic>
        <p:nvPicPr>
          <p:cNvPr id="5" name="Content Placeholder 4">
            <a:extLst>
              <a:ext uri="{FF2B5EF4-FFF2-40B4-BE49-F238E27FC236}">
                <a16:creationId xmlns:a16="http://schemas.microsoft.com/office/drawing/2014/main" id="{D75B1236-BE2A-EBE6-8A52-0FEE008F555B}"/>
              </a:ext>
            </a:extLst>
          </p:cNvPr>
          <p:cNvPicPr>
            <a:picLocks noGrp="1" noChangeAspect="1"/>
          </p:cNvPicPr>
          <p:nvPr>
            <p:ph idx="1"/>
          </p:nvPr>
        </p:nvPicPr>
        <p:blipFill>
          <a:blip r:embed="rId2"/>
          <a:stretch>
            <a:fillRect/>
          </a:stretch>
        </p:blipFill>
        <p:spPr>
          <a:xfrm>
            <a:off x="6568594" y="1710205"/>
            <a:ext cx="5620535" cy="4091575"/>
          </a:xfrm>
          <a:prstGeom prst="rect">
            <a:avLst/>
          </a:prstGeom>
        </p:spPr>
      </p:pic>
      <p:sp>
        <p:nvSpPr>
          <p:cNvPr id="3" name="TextBox 2">
            <a:extLst>
              <a:ext uri="{FF2B5EF4-FFF2-40B4-BE49-F238E27FC236}">
                <a16:creationId xmlns:a16="http://schemas.microsoft.com/office/drawing/2014/main" id="{589CD23A-1757-B115-4210-11DCE105C431}"/>
              </a:ext>
            </a:extLst>
          </p:cNvPr>
          <p:cNvSpPr txBox="1"/>
          <p:nvPr/>
        </p:nvSpPr>
        <p:spPr>
          <a:xfrm>
            <a:off x="329323" y="2335586"/>
            <a:ext cx="418369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Below Basic:</a:t>
            </a:r>
            <a:r>
              <a:rPr lang="en-US">
                <a:ea typeface="+mn-lt"/>
                <a:cs typeface="+mn-lt"/>
              </a:rPr>
              <a:t> </a:t>
            </a:r>
            <a:r>
              <a:rPr lang="en-US" b="1">
                <a:ea typeface="+mn-lt"/>
                <a:cs typeface="+mn-lt"/>
              </a:rPr>
              <a:t>+27.3% improvement</a:t>
            </a:r>
            <a:endParaRPr lang="en-US"/>
          </a:p>
          <a:p>
            <a:r>
              <a:rPr lang="en-US" b="1">
                <a:ea typeface="+mn-lt"/>
                <a:cs typeface="+mn-lt"/>
              </a:rPr>
              <a:t>Basic: +21.3% improvement</a:t>
            </a:r>
            <a:r>
              <a:rPr lang="en-US">
                <a:ea typeface="+mn-lt"/>
                <a:cs typeface="+mn-lt"/>
              </a:rPr>
              <a:t> </a:t>
            </a:r>
            <a:endParaRPr lang="en-US"/>
          </a:p>
          <a:p>
            <a:r>
              <a:rPr lang="en-US" b="1">
                <a:ea typeface="+mn-lt"/>
                <a:cs typeface="+mn-lt"/>
              </a:rPr>
              <a:t>Proficient</a:t>
            </a:r>
            <a:r>
              <a:rPr lang="en-US">
                <a:ea typeface="+mn-lt"/>
                <a:cs typeface="+mn-lt"/>
              </a:rPr>
              <a:t>:</a:t>
            </a:r>
            <a:r>
              <a:rPr lang="en-US" b="1">
                <a:ea typeface="+mn-lt"/>
                <a:cs typeface="+mn-lt"/>
              </a:rPr>
              <a:t> +4.0% improvement</a:t>
            </a:r>
            <a:endParaRPr lang="en-US"/>
          </a:p>
        </p:txBody>
      </p:sp>
    </p:spTree>
    <p:extLst>
      <p:ext uri="{BB962C8B-B14F-4D97-AF65-F5344CB8AC3E}">
        <p14:creationId xmlns:p14="http://schemas.microsoft.com/office/powerpoint/2010/main" val="690362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1393-2D81-5B22-867B-B32B926FE20C}"/>
              </a:ext>
            </a:extLst>
          </p:cNvPr>
          <p:cNvSpPr>
            <a:spLocks noGrp="1"/>
          </p:cNvSpPr>
          <p:nvPr>
            <p:ph type="title"/>
          </p:nvPr>
        </p:nvSpPr>
        <p:spPr>
          <a:xfrm>
            <a:off x="838200" y="365125"/>
            <a:ext cx="10515600" cy="845399"/>
          </a:xfrm>
        </p:spPr>
        <p:txBody>
          <a:bodyPr/>
          <a:lstStyle/>
          <a:p>
            <a:pPr algn="ctr"/>
            <a:r>
              <a:rPr lang="en-US">
                <a:ea typeface="+mj-lt"/>
                <a:cs typeface="+mj-lt"/>
              </a:rPr>
              <a:t>Key Takeaways</a:t>
            </a:r>
            <a:endParaRPr lang="en-US"/>
          </a:p>
        </p:txBody>
      </p:sp>
      <p:sp>
        <p:nvSpPr>
          <p:cNvPr id="3" name="Content Placeholder 2">
            <a:extLst>
              <a:ext uri="{FF2B5EF4-FFF2-40B4-BE49-F238E27FC236}">
                <a16:creationId xmlns:a16="http://schemas.microsoft.com/office/drawing/2014/main" id="{5676C2A7-07E5-A047-C8B1-D426120B441D}"/>
              </a:ext>
            </a:extLst>
          </p:cNvPr>
          <p:cNvSpPr>
            <a:spLocks noGrp="1"/>
          </p:cNvSpPr>
          <p:nvPr>
            <p:ph idx="1"/>
          </p:nvPr>
        </p:nvSpPr>
        <p:spPr>
          <a:xfrm>
            <a:off x="838200" y="1606419"/>
            <a:ext cx="10515600" cy="4894132"/>
          </a:xfrm>
        </p:spPr>
        <p:txBody>
          <a:bodyPr vert="horz" lIns="91440" tIns="45720" rIns="91440" bIns="45720" rtlCol="0" anchor="t">
            <a:noAutofit/>
          </a:bodyPr>
          <a:lstStyle/>
          <a:p>
            <a:r>
              <a:rPr lang="en-US" sz="2000" dirty="0">
                <a:ea typeface="+mn-lt"/>
                <a:cs typeface="+mn-lt"/>
              </a:rPr>
              <a:t>The Treatment group showed substantially stronger learning gains than the Control group despite starting from a weaker baseline</a:t>
            </a:r>
          </a:p>
          <a:p>
            <a:r>
              <a:rPr lang="en-US" sz="2000">
                <a:ea typeface="+mn-lt"/>
                <a:cs typeface="+mn-lt"/>
              </a:rPr>
              <a:t>The Treatment group outperformed the Control group by midline despite starting from a weaker baseline position. </a:t>
            </a:r>
            <a:endParaRPr lang="en-US" sz="2000"/>
          </a:p>
          <a:p>
            <a:r>
              <a:rPr lang="en-US" sz="2000" dirty="0">
                <a:ea typeface="+mn-lt"/>
                <a:cs typeface="+mn-lt"/>
              </a:rPr>
              <a:t>The intervention generated an additional impact of </a:t>
            </a:r>
            <a:r>
              <a:rPr lang="en-US" sz="2000" b="1" dirty="0">
                <a:ea typeface="+mn-lt"/>
                <a:cs typeface="+mn-lt"/>
              </a:rPr>
              <a:t>+13.1 percentage points</a:t>
            </a:r>
            <a:r>
              <a:rPr lang="en-US" sz="2000" dirty="0">
                <a:ea typeface="+mn-lt"/>
                <a:cs typeface="+mn-lt"/>
              </a:rPr>
              <a:t> beyond natural progress seen in the Control group. </a:t>
            </a:r>
            <a:endParaRPr lang="en-US" sz="2000" dirty="0"/>
          </a:p>
          <a:p>
            <a:r>
              <a:rPr lang="en-US" sz="2000" dirty="0">
                <a:ea typeface="+mn-lt"/>
                <a:cs typeface="+mn-lt"/>
              </a:rPr>
              <a:t>Treatment students showed stronger subject-wise gains across Reading, Writing, and Numeracy, with the largest additional impact in Numeracy. </a:t>
            </a:r>
            <a:endParaRPr lang="en-US" sz="2000" dirty="0"/>
          </a:p>
          <a:p>
            <a:r>
              <a:rPr lang="en-US" sz="2000">
                <a:ea typeface="+mn-lt"/>
                <a:cs typeface="+mn-lt"/>
              </a:rPr>
              <a:t>Grade-wise and school-wise comparisons show that improvement is visible across multiple levels, not only in aggregate averages. </a:t>
            </a:r>
            <a:endParaRPr lang="en-US" sz="2000"/>
          </a:p>
          <a:p>
            <a:r>
              <a:rPr lang="en-US" sz="2000" dirty="0">
                <a:ea typeface="+mn-lt"/>
                <a:cs typeface="+mn-lt"/>
              </a:rPr>
              <a:t>The strongest gains were observed among lower-performing students, indicating that the intervention is especially effective for foundational learning support. </a:t>
            </a:r>
            <a:endParaRPr lang="en-US" sz="2000" dirty="0"/>
          </a:p>
          <a:p>
            <a:r>
              <a:rPr lang="en-US" sz="2000">
                <a:ea typeface="+mn-lt"/>
                <a:cs typeface="+mn-lt"/>
              </a:rPr>
              <a:t>Statistical evidence supports these findings, showing that the observed gains are meaningful and unlikely to be due to chance.</a:t>
            </a:r>
            <a:endParaRPr lang="en-US" sz="2000"/>
          </a:p>
          <a:p>
            <a:endParaRPr lang="en-US" sz="2000"/>
          </a:p>
        </p:txBody>
      </p:sp>
    </p:spTree>
    <p:extLst>
      <p:ext uri="{BB962C8B-B14F-4D97-AF65-F5344CB8AC3E}">
        <p14:creationId xmlns:p14="http://schemas.microsoft.com/office/powerpoint/2010/main" val="956336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FB280-C3DD-96EA-B2EF-5521FF996C96}"/>
              </a:ext>
            </a:extLst>
          </p:cNvPr>
          <p:cNvSpPr>
            <a:spLocks noGrp="1"/>
          </p:cNvSpPr>
          <p:nvPr>
            <p:ph type="title"/>
          </p:nvPr>
        </p:nvSpPr>
        <p:spPr>
          <a:xfrm>
            <a:off x="838200" y="365125"/>
            <a:ext cx="10515600" cy="709700"/>
          </a:xfrm>
        </p:spPr>
        <p:txBody>
          <a:bodyPr>
            <a:normAutofit/>
          </a:bodyPr>
          <a:lstStyle/>
          <a:p>
            <a:pPr algn="ctr"/>
            <a:r>
              <a:rPr lang="en-US" sz="4000">
                <a:ea typeface="+mj-lt"/>
                <a:cs typeface="+mj-lt"/>
              </a:rPr>
              <a:t>Recommendations</a:t>
            </a:r>
            <a:endParaRPr lang="en-US" sz="4000"/>
          </a:p>
        </p:txBody>
      </p:sp>
      <p:sp>
        <p:nvSpPr>
          <p:cNvPr id="3" name="Content Placeholder 2">
            <a:extLst>
              <a:ext uri="{FF2B5EF4-FFF2-40B4-BE49-F238E27FC236}">
                <a16:creationId xmlns:a16="http://schemas.microsoft.com/office/drawing/2014/main" id="{C080D74C-606D-E352-EB3E-7B6765FF25C1}"/>
              </a:ext>
            </a:extLst>
          </p:cNvPr>
          <p:cNvSpPr>
            <a:spLocks noGrp="1"/>
          </p:cNvSpPr>
          <p:nvPr>
            <p:ph idx="1"/>
          </p:nvPr>
        </p:nvSpPr>
        <p:spPr>
          <a:xfrm>
            <a:off x="838200" y="1564666"/>
            <a:ext cx="10515600" cy="4925447"/>
          </a:xfrm>
        </p:spPr>
        <p:txBody>
          <a:bodyPr vert="horz" lIns="91440" tIns="45720" rIns="91440" bIns="45720" rtlCol="0" anchor="t">
            <a:noAutofit/>
          </a:bodyPr>
          <a:lstStyle/>
          <a:p>
            <a:r>
              <a:rPr lang="en-US" sz="2000">
                <a:ea typeface="+mn-lt"/>
                <a:cs typeface="+mn-lt"/>
              </a:rPr>
              <a:t>Continue and strengthen the current intervention model, as it has demonstrated stronger gains than the comparison group. </a:t>
            </a:r>
            <a:endParaRPr lang="en-US" sz="2000"/>
          </a:p>
          <a:p>
            <a:r>
              <a:rPr lang="en-US" sz="2000">
                <a:ea typeface="+mn-lt"/>
                <a:cs typeface="+mn-lt"/>
              </a:rPr>
              <a:t>Prioritize Numeracy and Reading as high-impact areas while giving additional attention to Writing, where performance still has room to improve. </a:t>
            </a:r>
            <a:endParaRPr lang="en-US" sz="2000"/>
          </a:p>
          <a:p>
            <a:r>
              <a:rPr lang="en-US" sz="2000">
                <a:ea typeface="+mn-lt"/>
                <a:cs typeface="+mn-lt"/>
              </a:rPr>
              <a:t>Provide targeted support to students in the Below Basic category, as they show the highest responsiveness to intervention. </a:t>
            </a:r>
            <a:endParaRPr lang="en-US" sz="2000"/>
          </a:p>
          <a:p>
            <a:r>
              <a:rPr lang="en-US" sz="2000">
                <a:ea typeface="+mn-lt"/>
                <a:cs typeface="+mn-lt"/>
              </a:rPr>
              <a:t>Review lower-performing schools and grades more closely to identify where implementation support may need to be strengthened. </a:t>
            </a:r>
            <a:endParaRPr lang="en-US" sz="2000"/>
          </a:p>
          <a:p>
            <a:r>
              <a:rPr lang="en-US" sz="2000">
                <a:ea typeface="+mn-lt"/>
                <a:cs typeface="+mn-lt"/>
              </a:rPr>
              <a:t>Use school-wise and grade-wise tracking regularly to monitor whether improvements are consistent across locations and cohorts. </a:t>
            </a:r>
            <a:endParaRPr lang="en-US" sz="2000"/>
          </a:p>
          <a:p>
            <a:r>
              <a:rPr lang="en-US" sz="2000">
                <a:ea typeface="+mn-lt"/>
                <a:cs typeface="+mn-lt"/>
              </a:rPr>
              <a:t>Maintain strong student-level and school-level data quality to support more accurate future impact measurement. </a:t>
            </a:r>
            <a:endParaRPr lang="en-US" sz="2000"/>
          </a:p>
          <a:p>
            <a:r>
              <a:rPr lang="en-US" sz="2000">
                <a:ea typeface="+mn-lt"/>
                <a:cs typeface="+mn-lt"/>
              </a:rPr>
              <a:t>Consider scaling the intervention more broadly, while preserving the components that appear most strongly associated with improvement. </a:t>
            </a:r>
            <a:endParaRPr lang="en-US" sz="2000"/>
          </a:p>
          <a:p>
            <a:endParaRPr lang="en-US" sz="2000"/>
          </a:p>
        </p:txBody>
      </p:sp>
    </p:spTree>
    <p:extLst>
      <p:ext uri="{BB962C8B-B14F-4D97-AF65-F5344CB8AC3E}">
        <p14:creationId xmlns:p14="http://schemas.microsoft.com/office/powerpoint/2010/main" val="2682974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EB70-4D33-E8BD-A9A2-752BDC9C7DDD}"/>
              </a:ext>
            </a:extLst>
          </p:cNvPr>
          <p:cNvSpPr>
            <a:spLocks noGrp="1"/>
          </p:cNvSpPr>
          <p:nvPr>
            <p:ph type="title"/>
          </p:nvPr>
        </p:nvSpPr>
        <p:spPr/>
        <p:txBody>
          <a:bodyPr/>
          <a:lstStyle/>
          <a:p>
            <a:pPr algn="ctr"/>
            <a:r>
              <a:rPr lang="en-US">
                <a:ea typeface="+mj-lt"/>
                <a:cs typeface="+mj-lt"/>
              </a:rPr>
              <a:t>Conclusion</a:t>
            </a:r>
            <a:endParaRPr lang="en-US"/>
          </a:p>
          <a:p>
            <a:endParaRPr lang="en-US"/>
          </a:p>
        </p:txBody>
      </p:sp>
      <p:sp>
        <p:nvSpPr>
          <p:cNvPr id="3" name="Content Placeholder 2">
            <a:extLst>
              <a:ext uri="{FF2B5EF4-FFF2-40B4-BE49-F238E27FC236}">
                <a16:creationId xmlns:a16="http://schemas.microsoft.com/office/drawing/2014/main" id="{98B6DE9B-049C-766B-1394-DD9D1811045A}"/>
              </a:ext>
            </a:extLst>
          </p:cNvPr>
          <p:cNvSpPr>
            <a:spLocks noGrp="1"/>
          </p:cNvSpPr>
          <p:nvPr>
            <p:ph idx="1"/>
          </p:nvPr>
        </p:nvSpPr>
        <p:spPr>
          <a:xfrm>
            <a:off x="660748" y="1992639"/>
            <a:ext cx="10515600" cy="3610215"/>
          </a:xfrm>
        </p:spPr>
        <p:txBody>
          <a:bodyPr vert="horz" lIns="91440" tIns="45720" rIns="91440" bIns="45720" rtlCol="0" anchor="t">
            <a:noAutofit/>
          </a:bodyPr>
          <a:lstStyle/>
          <a:p>
            <a:r>
              <a:rPr lang="en-US" sz="2000">
                <a:ea typeface="+mn-lt"/>
                <a:cs typeface="+mn-lt"/>
              </a:rPr>
              <a:t>The analysis demonstrates a strong and statistically validated improvement in student learning outcomes. Despite starting from a weaker baseline, the Treatment group improved more rapidly and surpassed the Control group by midline. The intervention shows the strongest impact on foundational learners and delivers meaningful gains across subjects, grades, and schools. Overall, the results indicate that the program is impactful, scalable, and capable of driving measurable learning improvement at scale.</a:t>
            </a:r>
            <a:endParaRPr lang="en-US">
              <a:ea typeface="+mn-lt"/>
              <a:cs typeface="+mn-lt"/>
            </a:endParaRPr>
          </a:p>
        </p:txBody>
      </p:sp>
    </p:spTree>
    <p:extLst>
      <p:ext uri="{BB962C8B-B14F-4D97-AF65-F5344CB8AC3E}">
        <p14:creationId xmlns:p14="http://schemas.microsoft.com/office/powerpoint/2010/main" val="995591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35</Slides>
  <Notes>0</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Impact Analysis Report – Learning Outcomes (Baseline vs Midline)</vt:lpstr>
      <vt:lpstr>Executive Summary</vt:lpstr>
      <vt:lpstr>Objective of the Analysis</vt:lpstr>
      <vt:lpstr>Dataset Overview</vt:lpstr>
      <vt:lpstr>Starting Point: Baseline Comparison</vt:lpstr>
      <vt:lpstr>End Point: Midline Comparison</vt:lpstr>
      <vt:lpstr>Learning Gains: Treatment vs Control</vt:lpstr>
      <vt:lpstr>Impact of Intervention (Difference-in-Differences)</vt:lpstr>
      <vt:lpstr>Subject-wise Improvement: Treatment vs Control</vt:lpstr>
      <vt:lpstr>Grade 2: Control vs Treatment (Baseline)</vt:lpstr>
      <vt:lpstr>Grade 2: Control vs Treatment (Midline)</vt:lpstr>
      <vt:lpstr>Grade 3: Control vs Treatment (Baseline)</vt:lpstr>
      <vt:lpstr>Grade 3: Control vs Treatment (Midline)</vt:lpstr>
      <vt:lpstr>Grade 4: Control vs Treatment (Baseline)</vt:lpstr>
      <vt:lpstr>Grade 4: Control vs Treatment (Midline)</vt:lpstr>
      <vt:lpstr>Grade 5: Control vs Treatment (Baseline)</vt:lpstr>
      <vt:lpstr>Grade 5: Control vs Treatment (Midline)</vt:lpstr>
      <vt:lpstr>Reading Scores by School (Baseline)</vt:lpstr>
      <vt:lpstr>Reading Scores by School (Midline)</vt:lpstr>
      <vt:lpstr>Numeracy Scores by School (Baseline)</vt:lpstr>
      <vt:lpstr>Numeracy Scores by School (Midline)</vt:lpstr>
      <vt:lpstr>Overall Scores by School (Baseline)</vt:lpstr>
      <vt:lpstr>Overall Scores by School (Midline)</vt:lpstr>
      <vt:lpstr>Performance Levels by Group (Baseline) </vt:lpstr>
      <vt:lpstr>Performance Levels by Group (Midline)</vt:lpstr>
      <vt:lpstr>Gender-wise Performance Analysis</vt:lpstr>
      <vt:lpstr>Strength of Overall Improvement</vt:lpstr>
      <vt:lpstr>T-Test (Baseline vs Midline)</vt:lpstr>
      <vt:lpstr>T-Test (Control vs Treatment)</vt:lpstr>
      <vt:lpstr>Chi-Square Test (Distribution)</vt:lpstr>
      <vt:lpstr>Correlation Insight(Midline)</vt:lpstr>
      <vt:lpstr>Who Benefited the Most?</vt:lpstr>
      <vt:lpstr>Key Takeaways</vt:lpstr>
      <vt:lpstr>Recommendations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11</cp:revision>
  <dcterms:created xsi:type="dcterms:W3CDTF">2026-04-17T06:06:55Z</dcterms:created>
  <dcterms:modified xsi:type="dcterms:W3CDTF">2026-04-22T16:12:14Z</dcterms:modified>
</cp:coreProperties>
</file>